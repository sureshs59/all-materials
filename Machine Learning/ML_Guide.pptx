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 to Expert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core concepts · Python examples · scikit-learn · TensorFlow · PyTorch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46504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Supervised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Unsupervised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9432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Regression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Classification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2788920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Decision Trees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Clustering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46504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6504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Neural Networks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Deep Learning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99432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Evaluation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25896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Overfitting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3172968"/>
            <a:ext cx="1298448" cy="329184"/>
          </a:xfrm>
          <a:prstGeom prst="rect">
            <a:avLst>
              <a:gd name="adj" fmla="val 11111"/>
            </a:avLst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31729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Advanced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8862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Suresh Sunuguri  ·  Senior Technical Lead  |  Java · Spring Boot · AI/ML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8595360" cy="457200"/>
          </a:xfrm>
          <a:prstGeom prst="rect">
            <a:avLst>
              <a:gd name="adj" fmla="val 8000"/>
            </a:avLst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36576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8394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"Instead of writing rules for a fish, you show 10,000 pictures and the model figures out what makes a fish."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508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programming vs 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114800" cy="411480"/>
          </a:xfrm>
          <a:prstGeom prst="rect">
            <a:avLst>
              <a:gd name="adj" fmla="val 8889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28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Traditional: Data + Rules →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4114800" cy="411480"/>
          </a:xfrm>
          <a:prstGeom prst="rect">
            <a:avLst>
              <a:gd name="adj" fmla="val 8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28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Learning: Data + Output → Rules (model learns them)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machine 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743200" cy="1371600"/>
          </a:xfrm>
          <a:prstGeom prst="rect">
            <a:avLst>
              <a:gd name="adj" fmla="val 4000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labelled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(input + answer)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filter, house prices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2743200"/>
            <a:ext cx="2743200" cy="1371600"/>
          </a:xfrm>
          <a:prstGeom prst="rect">
            <a:avLst>
              <a:gd name="adj" fmla="val 4000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unlabelled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71616" y="2743200"/>
            <a:ext cx="2743200" cy="1371600"/>
          </a:xfrm>
          <a:prstGeom prst="rect">
            <a:avLst>
              <a:gd name="adj" fmla="val 4000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63056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trial and 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rewards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63056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AI, robotics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Pipeline: Collect → Clean → Choose model → Train → Evaluate → Tune → Deploy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— Learn from Labelled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8595360" cy="411480"/>
          </a:xfrm>
          <a:prstGeom prst="rect">
            <a:avLst>
              <a:gd name="adj" fmla="val 8889"/>
            </a:avLst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36576" cy="411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a student studying past exams with answer keys — after 1,000 examples they can answer new questions."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supervised learning 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1828800" cy="749808"/>
          </a:xfrm>
          <a:prstGeom prst="rect">
            <a:avLst>
              <a:gd name="adj" fmla="val 6098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556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(house size → price)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130552"/>
            <a:ext cx="228600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1755648"/>
            <a:ext cx="1828800" cy="749808"/>
          </a:xfrm>
          <a:prstGeom prst="rect">
            <a:avLst>
              <a:gd name="adj" fmla="val 609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7556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× weight + bias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130552"/>
            <a:ext cx="228600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755648"/>
            <a:ext cx="1828800" cy="749808"/>
          </a:xfrm>
          <a:prstGeom prst="rect">
            <a:avLst>
              <a:gd name="adj" fmla="val 609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7556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house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sqft → £320k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vs Classification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114800" cy="1188720"/>
          </a:xfrm>
          <a:prstGeom prst="rect">
            <a:avLst>
              <a:gd name="adj" fmla="val 4615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a number on a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393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· Temperature · Salary · Exam 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926080"/>
            <a:ext cx="4114800" cy="1188720"/>
          </a:xfrm>
          <a:prstGeom prst="rect">
            <a:avLst>
              <a:gd name="adj" fmla="val 4615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a discrete category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6393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Spam/not spam · Cat/dog · Disease/healthy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8595360" cy="777240"/>
          </a:xfrm>
          <a:prstGeom prst="rect">
            <a:avLst>
              <a:gd name="adj" fmla="val 470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87952"/>
            <a:ext cx="36576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261104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443984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LinearRegression().fit([[800],[1000],[1500]], [160000,200000,300000])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626864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model.predict([[1300]])   # -&gt; [260000]  model learned: price ~ 200 x sqft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 + Regression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— no labels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384048"/>
          </a:xfrm>
          <a:prstGeom prst="rect">
            <a:avLst>
              <a:gd name="adj" fmla="val 9524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8720"/>
            <a:ext cx="36576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88720"/>
            <a:ext cx="8394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sorting foreign coins into groups by size and colour — no one told you the categories."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4114800" cy="731520"/>
          </a:xfrm>
          <a:prstGeom prst="rect">
            <a:avLst>
              <a:gd name="adj" fmla="val 6250"/>
            </a:avLst>
          </a:prstGeom>
          <a:solidFill>
            <a:srgbClr val="D6F5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similar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segments, document groups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45920"/>
            <a:ext cx="4114800" cy="731520"/>
          </a:xfrm>
          <a:prstGeom prst="rect">
            <a:avLst>
              <a:gd name="adj" fmla="val 6250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Dim. Reduction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PCA, t-SNE for visualisation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4114800" cy="731520"/>
          </a:xfrm>
          <a:prstGeom prst="rect">
            <a:avLst>
              <a:gd name="adj" fmla="val 6250"/>
            </a:avLst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outliers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defect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468880"/>
            <a:ext cx="4114800" cy="731520"/>
          </a:xfrm>
          <a:prstGeom prst="rect">
            <a:avLst>
              <a:gd name="adj" fmla="val 6250"/>
            </a:avLst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buyers → buy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basket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types at a glance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8595360" cy="914400"/>
        </p:xfrm>
        <a:graphic>
          <a:graphicData uri="http://schemas.openxmlformats.org/drawingml/2006/table">
            <a:tbl>
              <a:tblPr/>
              <a:tblGrid>
                <a:gridCol w="3008376"/>
                <a:gridCol w="558698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to 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is approximately linear — house prices, scores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/ Lasso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+ regularisation — prevents overfitting, handles many 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Tabular data with complex patterns — top Kaggle performer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— Predict a Category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— despite the name, this is a classifier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011680" cy="548640"/>
          </a:xfrm>
          <a:prstGeom prst="rect">
            <a:avLst>
              <a:gd name="adj" fmla="val 666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1444752"/>
            <a:ext cx="155448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1170432"/>
            <a:ext cx="2011680" cy="548640"/>
          </a:xfrm>
          <a:prstGeom prst="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combination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53128" y="1444752"/>
            <a:ext cx="155448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170432"/>
            <a:ext cx="2011680" cy="548640"/>
          </a:xfrm>
          <a:prstGeom prst="rect">
            <a:avLst>
              <a:gd name="adj" fmla="val 6667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function → 0–1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0256" y="1444752"/>
            <a:ext cx="155448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75704" y="1170432"/>
            <a:ext cx="2011680" cy="548640"/>
          </a:xfrm>
          <a:prstGeom prst="rect">
            <a:avLst>
              <a:gd name="adj" fmla="val 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→ Class label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828800"/>
            <a:ext cx="4206240" cy="1463040"/>
          </a:xfrm>
          <a:prstGeom prst="rect">
            <a:avLst>
              <a:gd name="adj" fmla="val 2500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828800"/>
            <a:ext cx="36576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6537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spam_classifier.py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205740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Email spam classifier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19456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Features: [words, !, link, CAPS]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233172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246888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clf.fit(X_train, y_train)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260604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274320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email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288036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clf.predict([[50,6,1,0.45]])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301752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[1]  spam!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3154680"/>
            <a:ext cx="400507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clf.predict_proba(...)  # [0.15, 0.85]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18288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matters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121408"/>
            <a:ext cx="1965960" cy="1097280"/>
          </a:xfrm>
          <a:prstGeom prst="rect">
            <a:avLst>
              <a:gd name="adj" fmla="val 4167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1762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(0.8)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24505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false alarms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misses more positives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8529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spam filter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39128" y="2121408"/>
            <a:ext cx="1965960" cy="1097280"/>
          </a:xfrm>
          <a:prstGeom prst="rect">
            <a:avLst>
              <a:gd name="adj" fmla="val 4167"/>
            </a:avLst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21762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24505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more positives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more false alarms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84848" y="285292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cancer detection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33101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classifiers: K-Nearest Neighbours · Support Vector Machine · Naive Bayes · Random Forest · XGBoost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8595360" cy="457200"/>
          </a:xfrm>
          <a:prstGeom prst="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657600"/>
            <a:ext cx="36576" cy="4572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657600"/>
            <a:ext cx="8394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metric by cost of error: Precision = minimise false alarms (spam). Recall = minimise missed positives (cancer). F1 = balance both.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and Ensemble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loan approval 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937760" cy="1783080"/>
          </a:xfrm>
          <a:prstGeom prst="rect">
            <a:avLst>
              <a:gd name="adj" fmla="val 205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70432"/>
            <a:ext cx="36576" cy="1783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4358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&gt; 30,000?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42646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|-- Yes -&gt; Employed &gt; 2 years?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60934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|-- Yes -&gt; APPROVE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79222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|-- No  -&gt; Credit score &gt; 650?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 |-- Yes -&gt; APPROVE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15798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 |-- No  -&gt; REJECT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340864"/>
            <a:ext cx="47365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|-- No  -&gt; REJECT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94960" y="868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170432"/>
            <a:ext cx="3474720" cy="822960"/>
          </a:xfrm>
          <a:prstGeom prst="rect">
            <a:avLst>
              <a:gd name="adj" fmla="val 5556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252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4996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trees on random subsets, majority vote. Robust, avoids overfitting.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2084832"/>
            <a:ext cx="3474720" cy="822960"/>
          </a:xfrm>
          <a:prstGeom prst="rect">
            <a:avLst>
              <a:gd name="adj" fmla="val 5556"/>
            </a:avLst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139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4140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built sequentially, each fixes previous errors. State of art for tabular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8595360" cy="1920240"/>
          </a:xfrm>
          <a:prstGeom prst="rect">
            <a:avLst>
              <a:gd name="adj" fmla="val 1905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017520"/>
            <a:ext cx="36576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random_forest.py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324612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42900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361188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Loan features: [salary, years_employed, credit_score]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379476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[[35000,3,720],[28000,1,580],[55000,8,800],[22000,0,500]]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397764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[1, 0, 1, 0]   # 1=approve, 0=reject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16052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34340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RandomForestClassifier(n_estimators=100).fit(X, y)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52628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imp in zip(["salary","years","credit"], rf.feature_importances_):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4709160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{imp:.2f}")    # salary: 0.42  years: 0.31  credit: 0.27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— K-Means Algorithm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K-Means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1170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 centroids randomly in data 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0312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each point to its nearest centroid (Euclidean distance)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03120" y="2450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 centroid as the mean of all assigned 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090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0312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steps 2-3 until centroids stop moving (convergence)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7673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clustering algorithms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2011680" cy="804672"/>
          </a:xfrm>
          <a:prstGeom prst="rect">
            <a:avLst>
              <a:gd name="adj" fmla="val 5682"/>
            </a:avLst>
          </a:prstGeom>
          <a:solidFill>
            <a:srgbClr val="D6F5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62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round clusters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4114800"/>
            <a:ext cx="2011680" cy="804672"/>
          </a:xfrm>
          <a:prstGeom prst="rect">
            <a:avLst>
              <a:gd name="adj" fmla="val 5682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32888" y="4462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shapes, handles noise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08576" y="4114800"/>
            <a:ext cx="2011680" cy="804672"/>
          </a:xfrm>
          <a:prstGeom prst="rect">
            <a:avLst>
              <a:gd name="adj" fmla="val 5682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0016" y="4462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specify 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75704" y="4114800"/>
            <a:ext cx="2011680" cy="804672"/>
          </a:xfrm>
          <a:prstGeom prst="rect">
            <a:avLst>
              <a:gd name="adj" fmla="val 5682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Mix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67144" y="4462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probabilistic membership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868680"/>
            <a:ext cx="3474720" cy="2743200"/>
          </a:xfrm>
          <a:prstGeom prst="rect">
            <a:avLst>
              <a:gd name="adj" fmla="val 133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868680"/>
            <a:ext cx="36576" cy="2743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90525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kmeans.py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04688" y="109728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04688" y="128016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04688" y="14630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Customer: [age, spend]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04688" y="164592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[[25,2k],[28,2.2k],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04688" y="182880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[60,15k],[58,14k],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04688" y="201168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[40,7k],[42,7.5k]]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04688" y="219456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04688" y="23774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KMeans(n_clusters=3)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04688" y="256032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km.fit(X)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04688" y="274320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04688" y="292608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print(km.labels_)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04688" y="310896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[0,0,1,1,2,2]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504688" y="32918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segments found!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— How They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8595360" cy="384048"/>
          </a:xfrm>
          <a:prstGeom prst="rect">
            <a:avLst>
              <a:gd name="adj" fmla="val 9524"/>
            </a:avLst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36576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8394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a chain of filters — early layers detect edges, later layers detect shapes, final layers detect faces."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neuron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1993392" cy="804672"/>
          </a:xfrm>
          <a:prstGeom prst="rect">
            <a:avLst>
              <a:gd name="adj" fmla="val 568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6479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x₁×w₁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x₂×w₂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x₃×w₃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2677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× Weights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67712" y="2121408"/>
            <a:ext cx="173736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41448" y="1719072"/>
            <a:ext cx="1993392" cy="804672"/>
          </a:xfrm>
          <a:prstGeom prst="rect">
            <a:avLst>
              <a:gd name="adj" fmla="val 568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76479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+ bias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2677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+ Bias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2121408"/>
            <a:ext cx="173736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719072"/>
            <a:ext cx="1993392" cy="804672"/>
          </a:xfrm>
          <a:prstGeom prst="rect">
            <a:avLst>
              <a:gd name="adj" fmla="val 5682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76479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/ Sigmoid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1728" y="22677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01968" y="2121408"/>
            <a:ext cx="173736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719072"/>
            <a:ext cx="1993392" cy="804672"/>
          </a:xfrm>
          <a:prstGeom prst="rect">
            <a:avLst>
              <a:gd name="adj" fmla="val 568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48856" y="176479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8856" y="22677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6517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44368"/>
          <a:ext cx="4114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max(0, 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layers — most common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Sigmoid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1/(1+e⁻ˣ)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output 0→1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Softmax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eˣ/Σeˣ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Multi-class probabilities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tanh(x)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Recurrent networks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572000" y="2651760"/>
            <a:ext cx="4297680" cy="2377440"/>
          </a:xfrm>
          <a:prstGeom prst="rect">
            <a:avLst>
              <a:gd name="adj" fmla="val 1538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2651760"/>
            <a:ext cx="36576" cy="2377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neural_net.py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81728" y="288036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81728" y="305943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81728" y="323850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tf.keras.Sequential([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681728" y="341757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activation="relu"),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681728" y="359664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Dense(32, activation="relu"),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681728" y="377571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Dropout(0.3),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681728" y="395478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Dense(1, activation="sigmoid"),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681728" y="413385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81728" y="431292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81728" y="449199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model.compile(optimizer="adam",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81728" y="467106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loss="binary_crossentropy")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81728" y="4850130"/>
            <a:ext cx="4096512" cy="17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y, epochs=50)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— CNNs, RNNs, Transformers, GANs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1188720"/>
          </a:xfrm>
          <a:prstGeom prst="rect">
            <a:avLst>
              <a:gd name="adj" fmla="val 4615"/>
            </a:avLst>
          </a:prstGeom>
          <a:solidFill>
            <a:srgbClr val="D6F5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7840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Images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29844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filters detect local features (edges, shapes)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60934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recognition · Medical imaging · Self-driving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188720"/>
          </a:xfrm>
          <a:prstGeom prst="rect">
            <a:avLst>
              <a:gd name="adj" fmla="val 4615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97840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RNN/LSTM — Sequences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29844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carries memory across time steps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60934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 · Translation · Time series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206240" cy="1188720"/>
          </a:xfrm>
          <a:prstGeom prst="rect">
            <a:avLst>
              <a:gd name="adj" fmla="val 4615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5856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— Any tokens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257860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every token attends to every other in parallel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8895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· Claude · BERT · Whisper · Stable Diffusion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4206240" cy="1188720"/>
          </a:xfrm>
          <a:prstGeom prst="rect">
            <a:avLst>
              <a:gd name="adj" fmla="val 4615"/>
            </a:avLst>
          </a:prstGeom>
          <a:solidFill>
            <a:srgbClr val="FAEC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5856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— Random noise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257860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vs discriminator adversarial competition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8888" y="288950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 · Synthetic images · Data augmentation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8595360" cy="475488"/>
          </a:xfrm>
          <a:prstGeom prst="rect">
            <a:avLst>
              <a:gd name="adj" fmla="val 7692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47872"/>
            <a:ext cx="36576" cy="47548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47872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is All You Need" (2017) introduced the Transformer. All major LLMs — GPT, Claude, Gemini, LLaMA — are based on it. Parallelisable unlike RNNs, enabling training at massive scale.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14800"/>
            <a:ext cx="8595360" cy="841248"/>
          </a:xfrm>
          <a:prstGeom prst="rect">
            <a:avLst>
              <a:gd name="adj" fmla="val 4348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114800"/>
            <a:ext cx="36576" cy="8412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87952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CNN for digit recognition (MNIST) — achieves ~99.2% accuracy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370832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tf.keras.Sequential([Conv2D(32,(3,3),activation="relu",input_shape=(28,28,1)),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553712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MaxPooling2D(2,2), Conv2D(64,(3,3),activation="relu"), MaxPooling2D(2,2),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736592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Flatten(), Dense(128,activation="relu"), Dense(10,activation="softmax")])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— Is It Actually Good?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8595360" cy="411480"/>
          </a:xfrm>
          <a:prstGeom prst="rect">
            <a:avLst>
              <a:gd name="adj" fmla="val 8889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36576" cy="4114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predicting "no cancer" achieves 99% accuracy on a 1% cancer dataset — but catches zero cases. Accuracy alone is misleading.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1353312" cy="530352"/>
          </a:xfrm>
          <a:prstGeom prst="rect">
            <a:avLst/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19072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4208" y="1719072"/>
            <a:ext cx="1353312" cy="530352"/>
          </a:xfrm>
          <a:prstGeom prst="rect">
            <a:avLst/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1719072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54096" y="1719072"/>
            <a:ext cx="1353312" cy="530352"/>
          </a:xfrm>
          <a:prstGeom prst="rect">
            <a:avLst/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719072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1353312" cy="530352"/>
          </a:xfrm>
          <a:prstGeom prst="rect">
            <a:avLst/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8600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64208" y="2286000"/>
            <a:ext cx="1353312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9928" y="228600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True Positive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54096" y="2286000"/>
            <a:ext cx="1353312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9816" y="228600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 False Negative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52928"/>
            <a:ext cx="1353312" cy="530352"/>
          </a:xfrm>
          <a:prstGeom prst="rect">
            <a:avLst/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52928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64208" y="2852928"/>
            <a:ext cx="1353312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2852928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False Positive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54096" y="2852928"/>
            <a:ext cx="1353312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9816" y="2852928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True Negative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154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56432"/>
          <a:ext cx="8595360" cy="914400"/>
        </p:xfrm>
        <a:graphic>
          <a:graphicData uri="http://schemas.openxmlformats.org/drawingml/2006/table">
            <a:tbl>
              <a:tblPr/>
              <a:tblGrid>
                <a:gridCol w="1890979"/>
                <a:gridCol w="2836469"/>
                <a:gridCol w="386791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/ (TP + FP)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Minimise false alarms — spam filter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/ (TP + FN)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Minimise missed cases — cancer detection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P × R / (P + 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precision and recall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under ROC curve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quality on imbalanced datasets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5-fold cross-validation for reliable estimates — split data into 5 folds, train on 4, test on 1, rotate, average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and Underfitting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8595360" cy="411480"/>
          </a:xfrm>
          <a:prstGeom prst="rect">
            <a:avLst>
              <a:gd name="adj" fmla="val 8889"/>
            </a:avLst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36576" cy="411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"Overfitting is a student who memorises exam questions word-for-word but fails a rephrased version. Underfitting is the student who did not study at all."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bias-variance tradeoff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2743200" cy="1572768"/>
          </a:xfrm>
          <a:prstGeom prst="rect">
            <a:avLst>
              <a:gd name="adj" fmla="val 3488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105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21305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train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test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too simple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761488"/>
            <a:ext cx="252374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163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Add complexity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longer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755648"/>
            <a:ext cx="2743200" cy="1572768"/>
          </a:xfrm>
          <a:prstGeom prst="rect">
            <a:avLst>
              <a:gd name="adj" fmla="val 3488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8105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82696" y="21305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train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test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similar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82696" y="2761488"/>
            <a:ext cx="252374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28163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This is what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want! Deploy.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71616" y="1755648"/>
            <a:ext cx="2743200" cy="1572768"/>
          </a:xfrm>
          <a:prstGeom prst="rect">
            <a:avLst>
              <a:gd name="adj" fmla="val 3488"/>
            </a:avLst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8105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1344" y="21305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train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test 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gap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1344" y="2761488"/>
            <a:ext cx="252374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8163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More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56432"/>
            <a:ext cx="8595360" cy="1508760"/>
          </a:xfrm>
          <a:prstGeom prst="rect">
            <a:avLst>
              <a:gd name="adj" fmla="val 2424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56432"/>
            <a:ext cx="36576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930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regularisation.py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3685032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L2 Regularisation (Ridge)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3813048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Ridge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3941064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Ridge(alpha=1.0)   # alpha controls regularisation strength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069080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197096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Dropout in neural networks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325112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tf.keras.layers.Dropout(rate=0.3)   # randomly disable 30% of neurons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4453128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4581144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Early stopping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4709160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 = tf.keras.callbacks.EarlyStopping(monitor="val_loss", patience=5)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" y="4837176"/>
            <a:ext cx="83941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y, callbacks=[callback], validation_split=0.2)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2743200" cy="1207008"/>
          </a:xfrm>
          <a:prstGeom prst="rect">
            <a:avLst>
              <a:gd name="adj" fmla="val 4545"/>
            </a:avLst>
          </a:prstGeom>
          <a:solidFill>
            <a:srgbClr val="D6F5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784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29844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 model pre-trained on millions of examples. Fine-tune on your small dataset. Reduces training from weeks to hours.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743200" cy="1207008"/>
          </a:xfrm>
          <a:prstGeom prst="rect">
            <a:avLst>
              <a:gd name="adj" fmla="val 4545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784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29844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learns via rewards/penalties. Trained AlphaGo. Powers robotics and RLHF in LLMs.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43200" cy="1207008"/>
          </a:xfrm>
          <a:prstGeom prst="rect">
            <a:avLst>
              <a:gd name="adj" fmla="val 4545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9784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&amp; Attention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1344" y="129844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lets every token attend to every other simultaneously. Basis of all major LLMs (GPT, Claude, Gemini).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2743200" cy="1207008"/>
          </a:xfrm>
          <a:prstGeom prst="rect">
            <a:avLst>
              <a:gd name="adj" fmla="val 4545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768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2596896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raw data into features the model can use. Often more impactful than algorithm choice.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212848"/>
            <a:ext cx="2743200" cy="1207008"/>
          </a:xfrm>
          <a:prstGeom prst="rect">
            <a:avLst>
              <a:gd name="adj" fmla="val 4545"/>
            </a:avLst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22768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82696" y="2596896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learning rate, batch size, layers. Grid search, random search, or Bayesian optimisation (Optuna).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2212848"/>
            <a:ext cx="2743200" cy="1207008"/>
          </a:xfrm>
          <a:prstGeom prst="rect">
            <a:avLst>
              <a:gd name="adj" fmla="val 4545"/>
            </a:avLst>
          </a:prstGeom>
          <a:solidFill>
            <a:srgbClr val="FAEC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22768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&amp;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1344" y="2596896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models via FastAPI. Version with MLflow. Monitor drift. Automate retraining pipelines. AWS SageMaker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Roadmap — Basics to Expert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512064"/>
          </a:xfrm>
          <a:prstGeom prst="rect">
            <a:avLst>
              <a:gd name="adj" fmla="val 8929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8595360" cy="713232"/>
          </a:xfrm>
          <a:prstGeom prst="rect">
            <a:avLst>
              <a:gd name="adj" fmla="val 6410"/>
            </a:avLst>
          </a:prstGeom>
          <a:solidFill>
            <a:srgbClr val="EAF3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00584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2618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NumPy · Pandas · Matplotlib · Statistics basics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10058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weeks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8595360" cy="713232"/>
          </a:xfrm>
          <a:prstGeom prst="rect">
            <a:avLst>
              <a:gd name="adj" fmla="val 6410"/>
            </a:avLst>
          </a:prstGeom>
          <a:solidFill>
            <a:srgbClr val="D6E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810512"/>
            <a:ext cx="475488" cy="47548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10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1764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06654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scikit-learn: regression, classification, clustering, cross-validation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18105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8595360" cy="713232"/>
          </a:xfrm>
          <a:prstGeom prst="rect">
            <a:avLst>
              <a:gd name="adj" fmla="val 6410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615184"/>
            <a:ext cx="475488" cy="47548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151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2569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287121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or PyTorch · CNNs · RNNs · Transformers · Keras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61518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 weeks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10128"/>
            <a:ext cx="8595360" cy="713232"/>
          </a:xfrm>
          <a:prstGeom prst="rect">
            <a:avLst>
              <a:gd name="adj" fmla="val 6410"/>
            </a:avLst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419856"/>
            <a:ext cx="475488" cy="475488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7552" y="3374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36758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competitions · Real datasets · Personal projects · GitHub portfolio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341985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8595360" cy="713232"/>
          </a:xfrm>
          <a:prstGeom prst="rect">
            <a:avLst>
              <a:gd name="adj" fmla="val 6410"/>
            </a:avLst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4224528"/>
            <a:ext cx="475488" cy="47548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87552" y="41788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44805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· LLMs · MLOps · FastAPI · AWS SageMaker · MLflow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422452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— All 12 ML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6350">
            <a:solidFill>
              <a:srgbClr val="2D6A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96112"/>
            <a:ext cx="402336" cy="40233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8961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115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learns rules from examples, not programmed explicitly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99616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72768"/>
            <a:ext cx="402336" cy="40233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72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15727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1792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labelled input-output pairs to predict new inputs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76272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24942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49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249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hidden patterns in unlabelled data — clustering, anomalies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926080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2926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6112" y="3145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 continuous number — house price, salary, temperature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602736"/>
            <a:ext cx="402336" cy="402336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602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3602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6112" y="38221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 discrete category — spam, cat vs dog, disease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279392"/>
            <a:ext cx="402336" cy="40233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498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if-then rules. Random forest + XGBoost for best results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822960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89611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896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22392" y="8961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22392" y="1115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similar data — K-Means finds segments automatically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1499616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0328" y="1572768"/>
            <a:ext cx="402336" cy="402336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1572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22392" y="15727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22392" y="1792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nodes adjust weights via backpropagation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2176272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0328" y="2249424"/>
            <a:ext cx="402336" cy="40233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2249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22392" y="2249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422392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for images, LSTMs for sequences, Transformers for LLMs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2852928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0328" y="2926080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22392" y="2926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422392" y="3145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Precision, recall, F1, AUC — choose metric for your problem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3529584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0328" y="3602736"/>
            <a:ext cx="402336" cy="40233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3602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22392" y="3602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422392" y="38221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memorises training data — regularisation and dropout fix it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00600" y="4206240"/>
            <a:ext cx="4297680" cy="594360"/>
          </a:xfrm>
          <a:prstGeom prst="rect">
            <a:avLst>
              <a:gd name="adj" fmla="val 6154"/>
            </a:avLst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0328" y="4279392"/>
            <a:ext cx="402336" cy="40233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0328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22392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422392" y="4498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learning, RL, Transformers, MLOps in production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6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Suresh Sunuguri  ·  Machine Learning Guide  ·  scikit-learn  ·  TensorFlow  ·  PyTorch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— Basics to Expert</dc:title>
  <dc:subject>PptxGenJS Presentation</dc:subject>
  <dc:creator>Suresh Sunuguri</dc:creator>
  <cp:lastModifiedBy>Suresh Sunuguri</cp:lastModifiedBy>
  <cp:revision>1</cp:revision>
  <dcterms:created xsi:type="dcterms:W3CDTF">2026-05-11T03:52:29Z</dcterms:created>
  <dcterms:modified xsi:type="dcterms:W3CDTF">2026-05-11T03:52:29Z</dcterms:modified>
</cp:coreProperties>
</file>