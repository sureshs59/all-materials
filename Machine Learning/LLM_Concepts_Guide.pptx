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749040"/>
            <a:ext cx="9144000" cy="139446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Large Language Models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</a:rPr>
              <a:t>Complete Beginner's Guide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AAFD4"/>
                </a:solidFill>
              </a:rPr>
              <a:t>10 core concepts · diagrams · real examples · practical notes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2834640"/>
            <a:ext cx="1572768" cy="320040"/>
          </a:xfrm>
          <a:prstGeom prst="rect">
            <a:avLst/>
          </a:prstGeom>
          <a:solidFill>
            <a:srgbClr val="1D4A7F"/>
          </a:solidFill>
          <a:ln w="12700">
            <a:solidFill>
              <a:srgbClr val="2D6AA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83464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1. LLM basics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93392" y="2834640"/>
            <a:ext cx="1572768" cy="320040"/>
          </a:xfrm>
          <a:prstGeom prst="rect">
            <a:avLst/>
          </a:prstGeom>
          <a:solidFill>
            <a:srgbClr val="1D4A7F"/>
          </a:solidFill>
          <a:ln w="12700">
            <a:solidFill>
              <a:srgbClr val="2D6AA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93392" y="283464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2. Training pipeline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12464" y="2834640"/>
            <a:ext cx="1572768" cy="320040"/>
          </a:xfrm>
          <a:prstGeom prst="rect">
            <a:avLst/>
          </a:prstGeom>
          <a:solidFill>
            <a:srgbClr val="1D4A7F"/>
          </a:solidFill>
          <a:ln w="12700">
            <a:solidFill>
              <a:srgbClr val="2D6AA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12464" y="283464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3. Prompt engineering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31536" y="2834640"/>
            <a:ext cx="1572768" cy="320040"/>
          </a:xfrm>
          <a:prstGeom prst="rect">
            <a:avLst/>
          </a:prstGeom>
          <a:solidFill>
            <a:srgbClr val="1D4A7F"/>
          </a:solidFill>
          <a:ln w="12700">
            <a:solidFill>
              <a:srgbClr val="2D6AA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31536" y="283464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4. Zero/few shot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150608" y="2834640"/>
            <a:ext cx="1572768" cy="320040"/>
          </a:xfrm>
          <a:prstGeom prst="rect">
            <a:avLst/>
          </a:prstGeom>
          <a:solidFill>
            <a:srgbClr val="1D4A7F"/>
          </a:solidFill>
          <a:ln w="12700">
            <a:solidFill>
              <a:srgbClr val="2D6AA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50608" y="283464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5. Temperature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3218688"/>
            <a:ext cx="1572768" cy="320040"/>
          </a:xfrm>
          <a:prstGeom prst="rect">
            <a:avLst/>
          </a:prstGeom>
          <a:solidFill>
            <a:srgbClr val="1D4A7F"/>
          </a:solidFill>
          <a:ln w="12700">
            <a:solidFill>
              <a:srgbClr val="2D6AA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218688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6. Hallucination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993392" y="3218688"/>
            <a:ext cx="1572768" cy="320040"/>
          </a:xfrm>
          <a:prstGeom prst="rect">
            <a:avLst/>
          </a:prstGeom>
          <a:solidFill>
            <a:srgbClr val="1D4A7F"/>
          </a:solidFill>
          <a:ln w="12700">
            <a:solidFill>
              <a:srgbClr val="2D6AA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93392" y="3218688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7. Instruction tuning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712464" y="3218688"/>
            <a:ext cx="1572768" cy="320040"/>
          </a:xfrm>
          <a:prstGeom prst="rect">
            <a:avLst/>
          </a:prstGeom>
          <a:solidFill>
            <a:srgbClr val="1D4A7F"/>
          </a:solidFill>
          <a:ln w="12700">
            <a:solidFill>
              <a:srgbClr val="2D6AA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12464" y="3218688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8. RLHF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31536" y="3218688"/>
            <a:ext cx="1572768" cy="320040"/>
          </a:xfrm>
          <a:prstGeom prst="rect">
            <a:avLst/>
          </a:prstGeom>
          <a:solidFill>
            <a:srgbClr val="1D4A7F"/>
          </a:solidFill>
          <a:ln w="12700">
            <a:solidFill>
              <a:srgbClr val="2D6AA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31536" y="3218688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9. Context windows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150608" y="3218688"/>
            <a:ext cx="1572768" cy="320040"/>
          </a:xfrm>
          <a:prstGeom prst="rect">
            <a:avLst/>
          </a:prstGeom>
          <a:solidFill>
            <a:srgbClr val="1D4A7F"/>
          </a:solidFill>
          <a:ln w="12700">
            <a:solidFill>
              <a:srgbClr val="2D6AA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50608" y="3218688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10. Embeddings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Suresh Sunuguri  ·  Senior Technical Lead  |  Java · Spring Boot · AI/ML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" y="320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1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228600" y="1554480"/>
            <a:ext cx="246888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1691640"/>
            <a:ext cx="2651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What is a Large Language Model?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926080" y="0"/>
            <a:ext cx="6217920" cy="51435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0" y="18288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5555"/>
                </a:solidFill>
              </a:rPr>
              <a:t>DEFINITION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108960" y="384048"/>
            <a:ext cx="5943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43891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</a:rPr>
              <a:t>An LLM is a neural network </a:t>
            </a:r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</a:rPr>
              <a:t>trained on massive text to predict the next token.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08960" y="91440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5555"/>
                </a:solidFill>
              </a:rPr>
              <a:t>HOW IT GENERATES TEXT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08960" y="1115568"/>
            <a:ext cx="5943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08960" y="1170432"/>
            <a:ext cx="1325880" cy="658368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0" y="1170432"/>
            <a:ext cx="132588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Input text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08960" y="1532534"/>
            <a:ext cx="1325880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"The capital of France is"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34840" y="1499616"/>
            <a:ext cx="118872" cy="0"/>
          </a:xfrm>
          <a:prstGeom prst="line">
            <a:avLst/>
          </a:prstGeom>
          <a:noFill/>
          <a:ln w="25400">
            <a:solidFill>
              <a:srgbClr val="854F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53712" y="1170432"/>
            <a:ext cx="132588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53712" y="1170432"/>
            <a:ext cx="132588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LLM computes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53712" y="1532534"/>
            <a:ext cx="1325880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token probabilities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879592" y="1499616"/>
            <a:ext cx="118872" cy="0"/>
          </a:xfrm>
          <a:prstGeom prst="line">
            <a:avLst/>
          </a:prstGeom>
          <a:noFill/>
          <a:ln w="25400">
            <a:solidFill>
              <a:srgbClr val="854F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98464" y="1170432"/>
            <a:ext cx="1325880" cy="65836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98464" y="1170432"/>
            <a:ext cx="132588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"Paris" 92%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98464" y="1532534"/>
            <a:ext cx="1325880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most probable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324344" y="1499616"/>
            <a:ext cx="118872" cy="0"/>
          </a:xfrm>
          <a:prstGeom prst="line">
            <a:avLst/>
          </a:prstGeom>
          <a:noFill/>
          <a:ln w="25400">
            <a:solidFill>
              <a:srgbClr val="854F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43216" y="1170432"/>
            <a:ext cx="1325880" cy="65836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43216" y="1170432"/>
            <a:ext cx="132588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Append + repeat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43216" y="1532534"/>
            <a:ext cx="1325880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autoregressive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108960" y="196596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5555"/>
                </a:solidFill>
              </a:rPr>
              <a:t>KEY FACTS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108960" y="2167128"/>
            <a:ext cx="5943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08960" y="2212848"/>
            <a:ext cx="2743200" cy="868680"/>
          </a:xfrm>
          <a:prstGeom prst="rect">
            <a:avLst/>
          </a:prstGeom>
          <a:solidFill>
            <a:srgbClr val="EEEDF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0" y="22860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00400" y="2560320"/>
            <a:ext cx="2560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"Large" = billions of parameters (GPT-4: ~1.8 trillion)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035040" y="2212848"/>
            <a:ext cx="2743200" cy="868680"/>
          </a:xfrm>
          <a:prstGeom prst="rect">
            <a:avLst/>
          </a:prstGeom>
          <a:solidFill>
            <a:srgbClr val="FAEED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22860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26480" y="2560320"/>
            <a:ext cx="2560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Does NOT look things up — generates from learned patterns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108960" y="3172968"/>
            <a:ext cx="2743200" cy="868680"/>
          </a:xfrm>
          <a:prstGeom prst="rect">
            <a:avLst/>
          </a:prstGeom>
          <a:solidFill>
            <a:srgbClr val="D6E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0" y="32461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200400" y="3520440"/>
            <a:ext cx="2560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Thinks in tokens, not words (~1 token = 0.75 words)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035040" y="3172968"/>
            <a:ext cx="2743200" cy="868680"/>
          </a:xfrm>
          <a:prstGeom prst="rect">
            <a:avLst/>
          </a:prstGeom>
          <a:solidFill>
            <a:srgbClr val="EAF3D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6480" y="32461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26480" y="3520440"/>
            <a:ext cx="2560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Examples: GPT-4, Claude, Gemini, LLaMA, Mistral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108960" y="420624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5555"/>
                </a:solidFill>
              </a:rPr>
              <a:t>"An LLM is extremely sophisticated autocomplete that has read the entire internet."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" y="320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2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228600" y="1554480"/>
            <a:ext cx="246888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1691640"/>
            <a:ext cx="2651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How are LLMs Trained?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926080" y="0"/>
            <a:ext cx="6217920" cy="51435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0" y="18288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5555"/>
                </a:solidFill>
              </a:rPr>
              <a:t>THREE-STAGE TRAINING PIPELINE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108960" y="384048"/>
            <a:ext cx="5943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27248" y="438912"/>
            <a:ext cx="1371600" cy="1828800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27248" y="5029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127248" y="777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Pre-training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18688" y="1143000"/>
            <a:ext cx="1188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Months on trillions of tokens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Predict next token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Costs ~$100M+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498848" y="1353312"/>
            <a:ext cx="100584" cy="0"/>
          </a:xfrm>
          <a:prstGeom prst="line">
            <a:avLst/>
          </a:prstGeom>
          <a:noFill/>
          <a:ln w="25400">
            <a:solidFill>
              <a:srgbClr val="854F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438912"/>
            <a:ext cx="1371600" cy="1828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5029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17720" y="777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Instruction tuning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09160" y="1143000"/>
            <a:ext cx="1188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Weeks on instruction pairs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Learn to follow commands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SFT algorithm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89320" y="1353312"/>
            <a:ext cx="100584" cy="0"/>
          </a:xfrm>
          <a:prstGeom prst="line">
            <a:avLst/>
          </a:prstGeom>
          <a:noFill/>
          <a:ln w="25400">
            <a:solidFill>
              <a:srgbClr val="854F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08192" y="438912"/>
            <a:ext cx="1371600" cy="18288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08192" y="5029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08192" y="777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RLHF alignment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1143000"/>
            <a:ext cx="1188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Human feedback + RL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Learn what "good" means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PPO algorithm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479792" y="1353312"/>
            <a:ext cx="100584" cy="0"/>
          </a:xfrm>
          <a:prstGeom prst="line">
            <a:avLst/>
          </a:prstGeom>
          <a:noFill/>
          <a:ln w="25400">
            <a:solidFill>
              <a:srgbClr val="854F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98664" y="438912"/>
            <a:ext cx="1371600" cy="18288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98664" y="5029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Result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598664" y="777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Deployed model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690104" y="1143000"/>
            <a:ext cx="1188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Helpful · Harmless · Honest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Ready for users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108960" y="242316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5555"/>
                </a:solidFill>
              </a:rPr>
              <a:t>STAGE 1 TRAINING LOOP — REPEATED BILLIONS OF TIMES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108960" y="2624328"/>
            <a:ext cx="5943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08960" y="2651760"/>
            <a:ext cx="5760720" cy="1417320"/>
          </a:xfrm>
          <a:prstGeom prst="rect">
            <a:avLst/>
          </a:prstGeom>
          <a:solidFill>
            <a:srgbClr val="1E2D3D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18688" y="2724912"/>
            <a:ext cx="554126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corpus (trillions of tokens — internet, books, Wikipedia, code)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Forward pass: model predicts next token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▼  Loss = how wrong was the prediction?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Backpropagation: adjust billions of weights to reduce loss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▼  Repeat until loss plateaus  →  base model ready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model: knows a lot BUT cannot follow instructions (Stage 2 fixes this)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108960" y="4160520"/>
            <a:ext cx="5760720" cy="347472"/>
          </a:xfrm>
          <a:prstGeom prst="rect">
            <a:avLst/>
          </a:prstGeom>
          <a:solidFill>
            <a:srgbClr val="D6F5EF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0" y="4187952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85041"/>
                </a:solidFill>
              </a:rPr>
              <a:t>Key: pre-training costs millions of dollars and months of time. Fine-tuning (Stages 2+3) is far cheaper.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" y="320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3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228600" y="1554480"/>
            <a:ext cx="246888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1691640"/>
            <a:ext cx="2651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Prompt Engineering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926080" y="0"/>
            <a:ext cx="6217920" cy="51435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0" y="18288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5555"/>
                </a:solidFill>
              </a:rPr>
              <a:t>WHAT IT IS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108960" y="384048"/>
            <a:ext cx="5943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420624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</a:rPr>
              <a:t>Crafting inputs to get better outputs from an LLM — no code or fine-tuning needed.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08960" y="82296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5555"/>
                </a:solidFill>
              </a:rPr>
              <a:t>6 CORE TECHNIQUES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08960" y="1024128"/>
            <a:ext cx="5943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08960" y="1078992"/>
            <a:ext cx="1828800" cy="1143000"/>
          </a:xfrm>
          <a:prstGeom prst="rect">
            <a:avLst/>
          </a:prstGeom>
          <a:solidFill>
            <a:srgbClr val="D6E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15214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</a:rPr>
              <a:t>1. Be specific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0" y="1426464"/>
            <a:ext cx="16459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Vague: "Write about Java"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Better: "Explain Java generics with 2 code examples for beginners in Java 17"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47488" y="1078992"/>
            <a:ext cx="1828800" cy="1143000"/>
          </a:xfrm>
          <a:prstGeom prst="rect">
            <a:avLst/>
          </a:prstGeom>
          <a:solidFill>
            <a:srgbClr val="EEEDF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38928" y="115214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34AB7"/>
                </a:solidFill>
              </a:rPr>
              <a:t>2. Assign a role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38928" y="1426464"/>
            <a:ext cx="16459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"You are a senior Spring Boot architect. Review this code for performance issues."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86016" y="1078992"/>
            <a:ext cx="1828800" cy="1143000"/>
          </a:xfrm>
          <a:prstGeom prst="rect">
            <a:avLst/>
          </a:prstGeom>
          <a:solidFill>
            <a:srgbClr val="FAEED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77456" y="115214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54F0B"/>
                </a:solidFill>
              </a:rPr>
              <a:t>3. Chain of thought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077456" y="1426464"/>
            <a:ext cx="16459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"Solve step by step. Show reasoning at each stage before giving the final answer."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108960" y="2313432"/>
            <a:ext cx="1828800" cy="1143000"/>
          </a:xfrm>
          <a:prstGeom prst="rect">
            <a:avLst/>
          </a:prstGeom>
          <a:solidFill>
            <a:srgbClr val="EAF3D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23865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500A"/>
                </a:solidFill>
              </a:rPr>
              <a:t>4. Specify format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0" y="2660904"/>
            <a:ext cx="16459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"Respond as JSON with keys: summary (string), sentiment (POS/NEG), confidence (0-1)."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47488" y="2313432"/>
            <a:ext cx="1828800" cy="1143000"/>
          </a:xfrm>
          <a:prstGeom prst="rect">
            <a:avLst/>
          </a:prstGeom>
          <a:solidFill>
            <a:srgbClr val="D6E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38928" y="23865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</a:rPr>
              <a:t>5. Use delimiters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38928" y="2660904"/>
            <a:ext cx="16459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"Summarise the following code.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Code: ```[paste code]```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Summary:"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986016" y="2313432"/>
            <a:ext cx="1828800" cy="1143000"/>
          </a:xfrm>
          <a:prstGeom prst="rect">
            <a:avLst/>
          </a:prstGeom>
          <a:solidFill>
            <a:srgbClr val="FCEBE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77456" y="23865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2D2D"/>
                </a:solidFill>
              </a:rPr>
              <a:t>6. Negative examples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077456" y="2660904"/>
            <a:ext cx="16459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"Explain clearly. Do NOT use jargon. Do NOT use cooking analogies."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108960" y="4160520"/>
            <a:ext cx="5760720" cy="347472"/>
          </a:xfrm>
          <a:prstGeom prst="rect">
            <a:avLst/>
          </a:prstGeom>
          <a:solidFill>
            <a:srgbClr val="FAEEDA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0" y="4187952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54F0B"/>
                </a:solidFill>
              </a:rPr>
              <a:t>It works by activating relevant patterns in training data. More context → better pattern matching.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" y="320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4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228600" y="1554480"/>
            <a:ext cx="246888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1691640"/>
            <a:ext cx="2651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Zero-Shot &amp; Few-Shot Prompting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926080" y="0"/>
            <a:ext cx="6217920" cy="51435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0" y="18288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5555"/>
                </a:solidFill>
              </a:rPr>
              <a:t>THE SPECTRUM OF IN-CONTEXT LEARNING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108960" y="384048"/>
            <a:ext cx="5943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27248" y="420624"/>
            <a:ext cx="1371600" cy="777240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27248" y="4754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Zero shot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18688" y="76809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No examples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Task only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498848" y="813816"/>
            <a:ext cx="100584" cy="0"/>
          </a:xfrm>
          <a:prstGeom prst="line">
            <a:avLst/>
          </a:prstGeom>
          <a:noFill/>
          <a:ln w="25400">
            <a:solidFill>
              <a:srgbClr val="854F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420624"/>
            <a:ext cx="13716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4754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One shot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09160" y="76809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 example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Good for format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89320" y="813816"/>
            <a:ext cx="100584" cy="0"/>
          </a:xfrm>
          <a:prstGeom prst="line">
            <a:avLst/>
          </a:prstGeom>
          <a:noFill/>
          <a:ln w="25400">
            <a:solidFill>
              <a:srgbClr val="854F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08192" y="420624"/>
            <a:ext cx="1371600" cy="77724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08192" y="4754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Few shot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99632" y="76809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2–10 examples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Most powerful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479792" y="813816"/>
            <a:ext cx="100584" cy="0"/>
          </a:xfrm>
          <a:prstGeom prst="line">
            <a:avLst/>
          </a:prstGeom>
          <a:noFill/>
          <a:ln w="25400">
            <a:solidFill>
              <a:srgbClr val="854F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98664" y="420624"/>
            <a:ext cx="1371600" cy="77724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98664" y="4754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Fine-tuning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690104" y="76809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Thousands of examples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Expensive GPU needed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127248" y="1298448"/>
            <a:ext cx="128016" cy="0"/>
          </a:xfrm>
          <a:prstGeom prst="rect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0" y="129844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5555"/>
                </a:solidFill>
              </a:rPr>
              <a:t>ZERO-SHOT EXAMPLE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108960" y="1499616"/>
            <a:ext cx="5943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08960" y="1517904"/>
            <a:ext cx="2651760" cy="868680"/>
          </a:xfrm>
          <a:prstGeom prst="rect">
            <a:avLst/>
          </a:prstGeom>
          <a:solidFill>
            <a:srgbClr val="1E2D3D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18688" y="1591056"/>
            <a:ext cx="243230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Prompt: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"Classify as POSITIVE or NEGATIVE: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The food was amazing."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 POSITIVE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897880" y="129844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5555"/>
                </a:solidFill>
              </a:rPr>
              <a:t>FEW-SHOT EXAMPLE — CUSTOM FORMAT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897880" y="1499616"/>
            <a:ext cx="5943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1517904"/>
            <a:ext cx="2971800" cy="1463040"/>
          </a:xfrm>
          <a:prstGeom prst="rect">
            <a:avLst/>
          </a:prstGeom>
          <a:solidFill>
            <a:srgbClr val="1E2D3D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07608" y="1591056"/>
            <a:ext cx="275234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-- 2 examples teach the pattern --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"Worst ever." → NEGATIVE, Score:1, Action:ESCALATE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"Loved it!"   → POSITIVE,  Score:5, Action:PUBLISH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"It was okay." →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NEUTRAL, Score:3, Action:REVIEW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108960" y="306324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5555"/>
                </a:solidFill>
              </a:rPr>
              <a:t>WHEN TO USE EACH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108960" y="3264408"/>
            <a:ext cx="5943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108960" y="3291840"/>
            <a:ext cx="1828800" cy="804672"/>
          </a:xfrm>
          <a:prstGeom prst="rect">
            <a:avLst/>
          </a:prstGeom>
          <a:solidFill>
            <a:srgbClr val="D6E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0" y="33649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</a:rPr>
              <a:t>Zero shot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200400" y="36393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First attempt at any task. Works for common requests the model sees often.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047488" y="3291840"/>
            <a:ext cx="1828800" cy="804672"/>
          </a:xfrm>
          <a:prstGeom prst="rect">
            <a:avLst/>
          </a:prstGeom>
          <a:solidFill>
            <a:srgbClr val="EEEDF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38928" y="33649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34AB7"/>
                </a:solidFill>
              </a:rPr>
              <a:t>Few shot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138928" y="36393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When format is unusual, output is wrong, or task is domain-specific. Add 2–3 examples.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986016" y="3291840"/>
            <a:ext cx="1828800" cy="804672"/>
          </a:xfrm>
          <a:prstGeom prst="rect">
            <a:avLst/>
          </a:prstGeom>
          <a:solidFill>
            <a:srgbClr val="EAF3D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77456" y="33649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500A"/>
                </a:solidFill>
              </a:rPr>
              <a:t>Fine-tuning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077456" y="36393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When few-shot still fails consistently. Requires dataset + GPU compute.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" y="320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5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228600" y="1554480"/>
            <a:ext cx="246888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1691640"/>
            <a:ext cx="2651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Temperature in LLM Generation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926080" y="0"/>
            <a:ext cx="6217920" cy="51435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0" y="18288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5555"/>
                </a:solidFill>
              </a:rPr>
              <a:t>WHAT TEMPERATURE CONTROLS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108960" y="384048"/>
            <a:ext cx="5943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42062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</a:rPr>
              <a:t>A number (0–2) that controls randomness. Low = predictable, high = creative.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08960" y="80467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5555"/>
                </a:solidFill>
              </a:rPr>
              <a:t>TEMPERATURE SCALE — COLOUR SHOWS CREATIVITY LEVEL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08960" y="1005840"/>
            <a:ext cx="5943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102412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E56"/>
                </a:solidFill>
              </a:rPr>
              <a:t>0.0 — deterministic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08960" y="1271016"/>
            <a:ext cx="548640" cy="18288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0" y="1481328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</a:rPr>
              <a:t>Code · SQL · JSON · Classification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108960" y="159105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</a:rPr>
              <a:t>0.3 — focused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08960" y="1837944"/>
            <a:ext cx="1371600" cy="1828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0" y="2048256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</a:rPr>
              <a:t>Technical writing · Summarisation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108960" y="215798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54F0B"/>
                </a:solidFill>
              </a:rPr>
              <a:t>0.7 — balanced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08960" y="2404872"/>
            <a:ext cx="2743200" cy="182880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0" y="2615184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</a:rPr>
              <a:t>Conversational AI · Emails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108960" y="272491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2D2D"/>
                </a:solidFill>
              </a:rPr>
              <a:t>1.0 — creative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08960" y="2971800"/>
            <a:ext cx="4114800" cy="18288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08960" y="3182112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</a:rPr>
              <a:t>Creative writing · Brainstorming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108960" y="32918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0000"/>
                </a:solidFill>
              </a:rPr>
              <a:t>2.0 — chaotic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08960" y="3538728"/>
            <a:ext cx="5486400" cy="182880"/>
          </a:xfrm>
          <a:prstGeom prst="rect">
            <a:avLst/>
          </a:prstGeom>
          <a:solidFill>
            <a:srgbClr val="880000"/>
          </a:solidFill>
          <a:ln w="12700">
            <a:solidFill>
              <a:srgbClr val="88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08960" y="3749040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</a:rPr>
              <a:t>Rarely useful — incoherent output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108960" y="4114800"/>
            <a:ext cx="5760720" cy="411480"/>
          </a:xfrm>
          <a:prstGeom prst="rect">
            <a:avLst/>
          </a:prstGeom>
          <a:solidFill>
            <a:srgbClr val="FAEEDA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0" y="414223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54F0B"/>
                </a:solidFill>
              </a:rPr>
              <a:t>Spring Boot tip: </a:t>
            </a:r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</a:rPr>
              <a:t>Use temperature: 0 for structured data extraction (JSON, classification). Use 0.7 for chat responses.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" y="320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6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228600" y="1554480"/>
            <a:ext cx="246888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1691640"/>
            <a:ext cx="2651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Hallucination in LLMs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926080" y="0"/>
            <a:ext cx="6217920" cy="51435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0" y="18288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5555"/>
                </a:solidFill>
              </a:rPr>
              <a:t>WHAT IS HALLUCINATION?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108960" y="384048"/>
            <a:ext cx="5943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41148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6454F"/>
                </a:solidFill>
              </a:rPr>
              <a:t>When an LLM generates confident, plausible-sounding text that is factually wrong.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08960" y="74980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</a:rPr>
              <a:t>The model is not lying — it has no concept of truth. It generates statistically likely text.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08960" y="109728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5555"/>
                </a:solidFill>
              </a:rPr>
              <a:t>FOUR TYPES OF HALLUCINATION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08960" y="1298448"/>
            <a:ext cx="5943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08960" y="1316736"/>
            <a:ext cx="2743200" cy="777240"/>
          </a:xfrm>
          <a:prstGeom prst="rect">
            <a:avLst/>
          </a:prstGeom>
          <a:solidFill>
            <a:srgbClr val="FCEBEB"/>
          </a:solidFill>
          <a:ln w="10160">
            <a:solidFill>
              <a:srgbClr val="A32D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3898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2D2D"/>
                </a:solidFill>
              </a:rPr>
              <a:t>Factual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0" y="163677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Invents wrong dates, names, statistics — "Java was invented in 1991 by James Smith"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35040" y="1316736"/>
            <a:ext cx="2743200" cy="777240"/>
          </a:xfrm>
          <a:prstGeom prst="rect">
            <a:avLst/>
          </a:prstGeom>
          <a:solidFill>
            <a:srgbClr val="FCEBEB"/>
          </a:solidFill>
          <a:ln w="10160">
            <a:solidFill>
              <a:srgbClr val="A32D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3898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2D2D"/>
                </a:solidFill>
              </a:rPr>
              <a:t>Citation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6480" y="163677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Fabricates paper titles, DOIs, URLs that do not exist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08960" y="2185416"/>
            <a:ext cx="2743200" cy="777240"/>
          </a:xfrm>
          <a:prstGeom prst="rect">
            <a:avLst/>
          </a:prstGeom>
          <a:solidFill>
            <a:srgbClr val="FCEBEB"/>
          </a:solidFill>
          <a:ln w="10160">
            <a:solidFill>
              <a:srgbClr val="A32D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22585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2D2D"/>
                </a:solidFill>
              </a:rPr>
              <a:t>Reasoning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0" y="250545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Gets right answer via wrong logic — wrong working, right answer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035040" y="2185416"/>
            <a:ext cx="2743200" cy="777240"/>
          </a:xfrm>
          <a:prstGeom prst="rect">
            <a:avLst/>
          </a:prstGeom>
          <a:solidFill>
            <a:srgbClr val="FCEBEB"/>
          </a:solidFill>
          <a:ln w="10160">
            <a:solidFill>
              <a:srgbClr val="A32D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22585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2D2D"/>
                </a:solidFill>
              </a:rPr>
              <a:t>Source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26480" y="250545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Invents quotes attributed to real people who never said them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108960" y="312724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5555"/>
                </a:solidFill>
              </a:rPr>
              <a:t>HOW TO REDUCE HALLUCINATION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108960" y="3328416"/>
            <a:ext cx="5943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08960" y="3337560"/>
            <a:ext cx="164592" cy="164592"/>
          </a:xfrm>
          <a:prstGeom prst="ellipse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37560" y="3319272"/>
            <a:ext cx="5532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</a:rPr>
              <a:t>RAG — give the model actual documents to reference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108960" y="3538728"/>
            <a:ext cx="164592" cy="164592"/>
          </a:xfrm>
          <a:prstGeom prst="ellipse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37560" y="3520440"/>
            <a:ext cx="5532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</a:rPr>
              <a:t>Temperature 0 for factual tasks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108960" y="3739896"/>
            <a:ext cx="164592" cy="164592"/>
          </a:xfrm>
          <a:prstGeom prst="ellipse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37560" y="3721608"/>
            <a:ext cx="5532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</a:rPr>
              <a:t>Decompose into verifiable sub-questions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108960" y="3941064"/>
            <a:ext cx="164592" cy="164592"/>
          </a:xfrm>
          <a:prstGeom prst="ellipse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37560" y="3922776"/>
            <a:ext cx="5532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</a:rPr>
              <a:t>Always validate critical facts against authoritative sources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108960" y="4178808"/>
            <a:ext cx="5760720" cy="320040"/>
          </a:xfrm>
          <a:prstGeom prst="rect">
            <a:avLst/>
          </a:prstGeom>
          <a:solidFill>
            <a:srgbClr val="FCEBEB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0" y="420624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32D2D"/>
                </a:solidFill>
              </a:rPr>
              <a:t>Never trust LLM output for medical, legal, or safety-critical decisions without human verification.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" y="320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7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228600" y="1554480"/>
            <a:ext cx="246888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1691640"/>
            <a:ext cx="2651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Instruction Tuning (SFT)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926080" y="0"/>
            <a:ext cx="6217920" cy="51435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0" y="18288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5555"/>
                </a:solidFill>
              </a:rPr>
              <a:t>WHAT IT IS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108960" y="384048"/>
            <a:ext cx="5943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420624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</a:rPr>
              <a:t>Fine-tuning a pre-trained base model on {instruction → response} pairs to teach it to follow commands.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08960" y="84124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5555"/>
                </a:solidFill>
              </a:rPr>
              <a:t>BEFORE VS AFTER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08960" y="1042416"/>
            <a:ext cx="5943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08960" y="1078992"/>
            <a:ext cx="2743200" cy="1508760"/>
          </a:xfrm>
          <a:prstGeom prst="rect">
            <a:avLst/>
          </a:prstGeom>
          <a:solidFill>
            <a:srgbClr val="FCEBEB"/>
          </a:solidFill>
          <a:ln w="10160">
            <a:solidFill>
              <a:srgbClr val="A32D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1430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2D2D"/>
                </a:solidFill>
              </a:rPr>
              <a:t>Base model (before)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1444752"/>
            <a:ext cx="2560320" cy="868680"/>
          </a:xfrm>
          <a:prstGeom prst="rect">
            <a:avLst/>
          </a:prstGeom>
          <a:solidFill>
            <a:srgbClr val="1E2D3D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1517904"/>
            <a:ext cx="234086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Prompt: "Translate hello to French."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"Translate bonjour to English.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Translate goodbye to French..."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← Continues pattern — wrong!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1078992"/>
            <a:ext cx="2743200" cy="1508760"/>
          </a:xfrm>
          <a:prstGeom prst="rect">
            <a:avLst/>
          </a:prstGeom>
          <a:solidFill>
            <a:srgbClr val="EAF3DE"/>
          </a:solidFill>
          <a:ln w="10160">
            <a:solidFill>
              <a:srgbClr val="2750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1430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500A"/>
                </a:solidFill>
              </a:rPr>
              <a:t>Instruction-tuned (after)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1444752"/>
            <a:ext cx="2560320" cy="868680"/>
          </a:xfrm>
          <a:prstGeom prst="rect">
            <a:avLst/>
          </a:prstGeom>
          <a:solidFill>
            <a:srgbClr val="1E2D3D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27648" y="1517904"/>
            <a:ext cx="234086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Prompt: "Translate hello to French."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"Bonjour"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← Follows instruction correctly!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108960" y="269748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5555"/>
                </a:solidFill>
              </a:rPr>
              <a:t>TRAINING DATA FORMAT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108960" y="2898648"/>
            <a:ext cx="5943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08960" y="2907792"/>
            <a:ext cx="5760720" cy="987552"/>
          </a:xfrm>
          <a:prstGeom prst="rect">
            <a:avLst/>
          </a:prstGeom>
          <a:solidFill>
            <a:srgbClr val="1E2D3D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18688" y="2980944"/>
            <a:ext cx="55412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{"instruction":"Summarise in one sentence.","input":"[long article]","output":"The article covers..."}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{"instruction":"Write Java to reverse a string.","input":"","output":"return new StringBuilder(s).reverse().toString();"}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{"instruction":"Is this POSITIVE or NEGATIVE?","input":"Loved it!","output":"Positive"}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Datasets: Stanford Alpaca, OpenAssistant, FLAN — hundreds of thousands of pairs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108960" y="3977640"/>
            <a:ext cx="5760720" cy="502920"/>
          </a:xfrm>
          <a:prstGeom prst="rect">
            <a:avLst/>
          </a:prstGeom>
          <a:solidFill>
            <a:srgbClr val="D6F5EF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0" y="4005072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5041"/>
                </a:solidFill>
              </a:rPr>
              <a:t>Instruction tuning turns a text-completer into something you can actually give commands to. ChatGPT, Claude, Gemini all use this.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" y="320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8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228600" y="1554480"/>
            <a:ext cx="246888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1691640"/>
            <a:ext cx="2651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RLHF — Reinforcement Learning from Human Feedback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926080" y="0"/>
            <a:ext cx="6217920" cy="51435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0" y="18288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5555"/>
                </a:solidFill>
              </a:rPr>
              <a:t>WHAT IT TEACHES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108960" y="384048"/>
            <a:ext cx="5943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420624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</a:rPr>
              <a:t>Teaches the model what "good" means using human preferences — making it helpful, harmless, and honest.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08960" y="84124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5555"/>
                </a:solidFill>
              </a:rPr>
              <a:t>THE 3-STEP RLHF PROCESS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08960" y="1042416"/>
            <a:ext cx="5943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08960" y="1078992"/>
            <a:ext cx="384048" cy="384048"/>
          </a:xfrm>
          <a:prstGeom prst="ellipse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0" y="1078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11880" y="1078992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54F0B"/>
                </a:solidFill>
              </a:rPr>
              <a:t>Collect preferences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11880" y="1371600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Show human raters 2 model responses to same prompt. Rater picks better one.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Thousands of (prompt, A, B, preference) tuples.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108960" y="2084832"/>
            <a:ext cx="384048" cy="38404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0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11880" y="2084832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</a:rPr>
              <a:t>Train reward model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11880" y="2377440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Train separate neural network to predict human preferences.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Input: prompt+response → Output: quality score.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108960" y="3090672"/>
            <a:ext cx="384048" cy="384048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0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11880" y="3090672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</a:rPr>
              <a:t>Fine-tune with RL (PPO)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11880" y="3383280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6454F"/>
                </a:solidFill>
              </a:rPr>
              <a:t>LLM generates responses. Reward model scores them. PPO updates LLM to score higher. Repeat thousands of times.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108960" y="4096512"/>
            <a:ext cx="5760720" cy="457200"/>
          </a:xfrm>
          <a:prstGeom prst="rect">
            <a:avLst/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0" y="4123944"/>
            <a:ext cx="5577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34AB7"/>
                </a:solidFill>
              </a:rPr>
              <a:t>Why it matters: </a:t>
            </a:r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</a:rPr>
              <a:t>RLHF is why Claude refuses harmful requests, admits uncertainty, and stays concise. Not programmed — emerged from human preference learning.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" y="320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9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228600" y="1554480"/>
            <a:ext cx="246888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1691640"/>
            <a:ext cx="2651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Context Windows in LLMs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926080" y="0"/>
            <a:ext cx="6217920" cy="51435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0" y="18288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5555"/>
                </a:solidFill>
              </a:rPr>
              <a:t>WHAT IS A CONTEXT WINDOW?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108960" y="384048"/>
            <a:ext cx="5943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41148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</a:rPr>
              <a:t>The maximum amount of text the model can see at once. Everything outside = invisible to the model.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08960" y="84124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5555"/>
                </a:solidFill>
              </a:rPr>
              <a:t>WHAT GOES INSIDE THE CONTEXT WINDOW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08960" y="1042416"/>
            <a:ext cx="5943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08960" y="1051560"/>
            <a:ext cx="5760720" cy="1325880"/>
          </a:xfrm>
          <a:prstGeom prst="rect">
            <a:avLst/>
          </a:prstGeom>
          <a:solidFill>
            <a:srgbClr val="D6E0F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143000"/>
            <a:ext cx="5440680" cy="1828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143000"/>
            <a:ext cx="5349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System prompt — instructions, persona, rules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46120" y="1362456"/>
            <a:ext cx="5440680" cy="1828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362456"/>
            <a:ext cx="5349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Chat history — all previous conversation turns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46120" y="1581912"/>
            <a:ext cx="5440680" cy="1828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1581912"/>
            <a:ext cx="5349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Retrieved documents — from RAG search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46120" y="1801368"/>
            <a:ext cx="5440680" cy="1828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1801368"/>
            <a:ext cx="5349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Current user message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46120" y="2020824"/>
            <a:ext cx="5440680" cy="1828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2020824"/>
            <a:ext cx="5349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Model response so far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108960" y="2423160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55"/>
                </a:solidFill>
              </a:rPr>
              <a:t>All of this TOGETHER must fit within the token limit — exceeding it = oldest content dropped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108960" y="274320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5555"/>
                </a:solidFill>
              </a:rPr>
              <a:t>CONTEXT WINDOW SIZES — 2025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108960" y="2944368"/>
            <a:ext cx="5943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27248" y="2962656"/>
            <a:ext cx="1325880" cy="804672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27248" y="300837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GPT-3.5 (old)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127248" y="325526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4K tokens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127248" y="352958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~3,000 words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0" y="2962656"/>
            <a:ext cx="1325880" cy="8046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300837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GPT-4 Turbo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0" y="325526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128K tokens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72000" y="352958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~96,000 words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016752" y="2962656"/>
            <a:ext cx="1325880" cy="80467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16752" y="300837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Claude 3.5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016752" y="325526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200K tokens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016752" y="352958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~150,000 words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461504" y="2962656"/>
            <a:ext cx="1325880" cy="80467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61504" y="300837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Gemini 1.5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461504" y="325526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1M tokens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461504" y="352958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~750,000 words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108960" y="3886200"/>
            <a:ext cx="5760720" cy="502920"/>
          </a:xfrm>
          <a:prstGeom prst="rect">
            <a:avLst/>
          </a:prstGeom>
          <a:solidFill>
            <a:srgbClr val="FCEBEB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0" y="3913632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2D2D"/>
                </a:solidFill>
              </a:rPr>
              <a:t>Lost in the middle: </a:t>
            </a:r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</a:rPr>
              <a:t>LLMs remember the beginning and end of long contexts better than the middle. Put critical instructions FIRST and LAST.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" y="320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10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228600" y="1554480"/>
            <a:ext cx="246888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1691640"/>
            <a:ext cx="2651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Embeddings &amp; Why They're Used with LLMs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926080" y="0"/>
            <a:ext cx="6217920" cy="51435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0" y="18288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5555"/>
                </a:solidFill>
              </a:rPr>
              <a:t>WHAT ARE EMBEDDINGS?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108960" y="384048"/>
            <a:ext cx="5943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402336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</a:rPr>
              <a:t>Text converted into a list of numbers (vector) where similar meaning = similar numbers.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08960" y="768096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5555"/>
                </a:solidFill>
              </a:rPr>
              <a:t>SEMANTIC SIMILARITY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08960" y="969264"/>
            <a:ext cx="5943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08960" y="987552"/>
            <a:ext cx="2697480" cy="777240"/>
          </a:xfrm>
          <a:prstGeom prst="rect">
            <a:avLst/>
          </a:prstGeom>
          <a:solidFill>
            <a:srgbClr val="D6F5EF"/>
          </a:solidFill>
          <a:ln w="10160">
            <a:solidFill>
              <a:srgbClr val="0F6E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06070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6E56"/>
                </a:solidFill>
              </a:rPr>
              <a:t>"dog" ↔ "puppy"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0" y="133502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5041"/>
                </a:solidFill>
              </a:rPr>
              <a:t>CLOSE (similar meaning)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89320" y="987552"/>
            <a:ext cx="2697480" cy="777240"/>
          </a:xfrm>
          <a:prstGeom prst="rect">
            <a:avLst/>
          </a:prstGeom>
          <a:solidFill>
            <a:srgbClr val="FCEBEB"/>
          </a:solidFill>
          <a:ln w="10160">
            <a:solidFill>
              <a:srgbClr val="A32D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106070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32D2D"/>
                </a:solidFill>
              </a:rPr>
              <a:t>"dog" ↔ "spreadsheet"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80760" y="133502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91F1F"/>
                </a:solidFill>
              </a:rPr>
              <a:t>FAR (different meaning)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108960" y="187452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5555"/>
                </a:solidFill>
              </a:rPr>
              <a:t>RAG PATTERN — EMBEDDINGS BRIDGE YOUR DATA AND THE LLM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08960" y="2075688"/>
            <a:ext cx="5943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08960" y="2084832"/>
            <a:ext cx="5760720" cy="1481328"/>
          </a:xfrm>
          <a:prstGeom prst="rect">
            <a:avLst/>
          </a:prstGeom>
          <a:solidFill>
            <a:srgbClr val="1E2D3D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18688" y="2157984"/>
            <a:ext cx="554126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SETUP (once):  Your documents → embed each chunk → store in vector database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QUERY TIME: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User: "How do I reset a password?"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embed question → question vector [0.31, -0.12, 0.88, ...]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similarity search in vector DB → find top 3 most similar chunks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inject chunks into LLM prompt as context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LLM answers using YOUR actual documentation — no hallucination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108960" y="3657600"/>
            <a:ext cx="5760720" cy="502920"/>
          </a:xfrm>
          <a:prstGeom prst="rect">
            <a:avLst/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3685032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34AB7"/>
                </a:solidFill>
              </a:rPr>
              <a:t>Use cases: </a:t>
            </a:r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</a:rPr>
              <a:t>Semantic search · RAG (LLM + your data) · Duplicate detection · Recommendation systems · Anomaly detection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08960" y="4224528"/>
            <a:ext cx="5760720" cy="411480"/>
          </a:xfrm>
          <a:prstGeom prst="rect">
            <a:avLst/>
          </a:prstGeom>
          <a:solidFill>
            <a:srgbClr val="1E2D3D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18688" y="4297680"/>
            <a:ext cx="55412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8D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 Boot: call embedding API → store in pgvector (PostgreSQL) → similarity search → inject into LLM prompt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Quick Reference — All 10 LLM Concepts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8412480" cy="0"/>
          </a:xfrm>
          <a:prstGeom prst="line">
            <a:avLst/>
          </a:prstGeom>
          <a:noFill/>
          <a:ln w="6350">
            <a:solidFill>
              <a:srgbClr val="2D6AA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04672"/>
            <a:ext cx="4297680" cy="749808"/>
          </a:xfrm>
          <a:prstGeom prst="rect">
            <a:avLst/>
          </a:prstGeom>
          <a:solidFill>
            <a:srgbClr val="162E5A"/>
          </a:solidFill>
          <a:ln w="6350">
            <a:solidFill>
              <a:srgbClr val="2D4A7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969264"/>
            <a:ext cx="384048" cy="384048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969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8961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LLM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" y="11704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AFD4"/>
                </a:solidFill>
              </a:rPr>
              <a:t>Neural network that predicts the next token to generate text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627632"/>
            <a:ext cx="4297680" cy="749808"/>
          </a:xfrm>
          <a:prstGeom prst="rect">
            <a:avLst/>
          </a:prstGeom>
          <a:solidFill>
            <a:srgbClr val="162E5A"/>
          </a:solidFill>
          <a:ln w="6350">
            <a:solidFill>
              <a:srgbClr val="2D4A7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1792224"/>
            <a:ext cx="384048" cy="384048"/>
          </a:xfrm>
          <a:prstGeom prst="ellipse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4672" y="1719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Training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" y="19933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AFD4"/>
                </a:solidFill>
              </a:rPr>
              <a:t>Pre-training → instruction tuning → RLHF — months to produce a model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450592"/>
            <a:ext cx="4297680" cy="749808"/>
          </a:xfrm>
          <a:prstGeom prst="rect">
            <a:avLst/>
          </a:prstGeom>
          <a:solidFill>
            <a:srgbClr val="162E5A"/>
          </a:solidFill>
          <a:ln w="6350">
            <a:solidFill>
              <a:srgbClr val="2D4A7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2615184"/>
            <a:ext cx="384048" cy="38404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615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4672" y="25420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Prompt engineering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4672" y="28163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AFD4"/>
                </a:solidFill>
              </a:rPr>
              <a:t>Craft inputs to get better outputs — roles, CoT, format specs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273552"/>
            <a:ext cx="4297680" cy="749808"/>
          </a:xfrm>
          <a:prstGeom prst="rect">
            <a:avLst/>
          </a:prstGeom>
          <a:solidFill>
            <a:srgbClr val="162E5A"/>
          </a:solidFill>
          <a:ln w="6350">
            <a:solidFill>
              <a:srgbClr val="2D4A7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" y="3438144"/>
            <a:ext cx="384048" cy="384048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3438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4672" y="33649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Zero/few shot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4672" y="36393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AFD4"/>
                </a:solidFill>
              </a:rPr>
              <a:t>No examples (zero) or 2-10 examples (few) to guide output format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4096512"/>
            <a:ext cx="4297680" cy="749808"/>
          </a:xfrm>
          <a:prstGeom prst="rect">
            <a:avLst/>
          </a:prstGeom>
          <a:solidFill>
            <a:srgbClr val="162E5A"/>
          </a:solidFill>
          <a:ln w="6350">
            <a:solidFill>
              <a:srgbClr val="2D4A7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" y="4261104"/>
            <a:ext cx="384048" cy="384048"/>
          </a:xfrm>
          <a:prstGeom prst="ellipse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4261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04672" y="4187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Temperature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04672" y="44622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AFD4"/>
                </a:solidFill>
              </a:rPr>
              <a:t>0 = deterministic, 0.7 = balanced, 2.0 = chaotic — controls randomness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00600" y="804672"/>
            <a:ext cx="4297680" cy="749808"/>
          </a:xfrm>
          <a:prstGeom prst="rect">
            <a:avLst/>
          </a:prstGeom>
          <a:solidFill>
            <a:srgbClr val="162E5A"/>
          </a:solidFill>
          <a:ln w="6350">
            <a:solidFill>
              <a:srgbClr val="2D4A7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73752" y="969264"/>
            <a:ext cx="384048" cy="384048"/>
          </a:xfrm>
          <a:prstGeom prst="ellipse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73752" y="969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30952" y="8961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Hallucination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30952" y="11704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AFD4"/>
                </a:solidFill>
              </a:rPr>
              <a:t>Confident wrong text — the model has no concept of truth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00600" y="1627632"/>
            <a:ext cx="4297680" cy="749808"/>
          </a:xfrm>
          <a:prstGeom prst="rect">
            <a:avLst/>
          </a:prstGeom>
          <a:solidFill>
            <a:srgbClr val="162E5A"/>
          </a:solidFill>
          <a:ln w="6350">
            <a:solidFill>
              <a:srgbClr val="2D4A7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73752" y="1792224"/>
            <a:ext cx="384048" cy="384048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73752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30952" y="1719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Instruction tuning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30952" y="19933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AFD4"/>
                </a:solidFill>
              </a:rPr>
              <a:t>Fine-tune on instruction/response pairs — turns completer into assistant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00600" y="2450592"/>
            <a:ext cx="4297680" cy="749808"/>
          </a:xfrm>
          <a:prstGeom prst="rect">
            <a:avLst/>
          </a:prstGeom>
          <a:solidFill>
            <a:srgbClr val="162E5A"/>
          </a:solidFill>
          <a:ln w="6350">
            <a:solidFill>
              <a:srgbClr val="2D4A7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73752" y="2615184"/>
            <a:ext cx="384048" cy="384048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73752" y="2615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30952" y="25420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RLHF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330952" y="28163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AFD4"/>
                </a:solidFill>
              </a:rPr>
              <a:t>Human preference data → reward model → LLM trained to score higher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00600" y="3273552"/>
            <a:ext cx="4297680" cy="749808"/>
          </a:xfrm>
          <a:prstGeom prst="rect">
            <a:avLst/>
          </a:prstGeom>
          <a:solidFill>
            <a:srgbClr val="162E5A"/>
          </a:solidFill>
          <a:ln w="6350">
            <a:solidFill>
              <a:srgbClr val="2D4A7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73752" y="3438144"/>
            <a:ext cx="384048" cy="38404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73752" y="3438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9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330952" y="33649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Context windows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330952" y="36393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AFD4"/>
                </a:solidFill>
              </a:rPr>
              <a:t>Max text the model can see — outside the window does not exist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00600" y="4096512"/>
            <a:ext cx="4297680" cy="749808"/>
          </a:xfrm>
          <a:prstGeom prst="rect">
            <a:avLst/>
          </a:prstGeom>
          <a:solidFill>
            <a:srgbClr val="162E5A"/>
          </a:solidFill>
          <a:ln w="6350">
            <a:solidFill>
              <a:srgbClr val="2D4A7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73752" y="4261104"/>
            <a:ext cx="384048" cy="384048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73752" y="4261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330952" y="4187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Embeddings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330952" y="44622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AFD4"/>
                </a:solidFill>
              </a:rPr>
              <a:t>Text → vectors — similar meaning = similar numbers — powers RAG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D6AAF"/>
                </a:solidFill>
              </a:rPr>
              <a:t>Suresh Sunuguri  ·  LLM Concepts Guide  · 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Large Language Models — Complete Beginner Guide</dc:title>
  <dc:subject>PptxGenJS Presentation</dc:subject>
  <dc:creator>Suresh Sunuguri</dc:creator>
  <cp:lastModifiedBy>Suresh Sunuguri</cp:lastModifiedBy>
  <cp:revision>1</cp:revision>
  <dcterms:created xsi:type="dcterms:W3CDTF">2026-05-04T04:57:37Z</dcterms:created>
  <dcterms:modified xsi:type="dcterms:W3CDTF">2026-05-04T04:57:37Z</dcterms:modified>
</cp:coreProperties>
</file>