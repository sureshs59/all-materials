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3" d="100"/>
          <a:sy n="103" d="100"/>
        </p:scale>
        <p:origin x="4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9542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1400" dirty="0">
                <a:solidFill>
                  <a:srgbClr val="FFFFFF"/>
                </a:solidFill>
              </a:rPr>
              <a:t>AWS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ADCFC"/>
                </a:solidFill>
              </a:rPr>
              <a:t>Beginner to Practical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AAFD4"/>
                </a:solidFill>
              </a:rPr>
              <a:t>12 Core Services  ·  Architecture Diagrams  ·  Real Java &amp; CLI Code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" y="2514600"/>
            <a:ext cx="594360" cy="594360"/>
          </a:xfrm>
          <a:prstGeom prst="ellipse">
            <a:avLst/>
          </a:prstGeom>
          <a:solidFill>
            <a:srgbClr val="1D4E8F"/>
          </a:solidFill>
          <a:ln w="12700">
            <a:solidFill>
              <a:srgbClr val="2A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🖥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24712" y="2514600"/>
            <a:ext cx="594360" cy="594360"/>
          </a:xfrm>
          <a:prstGeom prst="ellipse">
            <a:avLst/>
          </a:prstGeom>
          <a:solidFill>
            <a:srgbClr val="1D4E8F"/>
          </a:solidFill>
          <a:ln w="12700">
            <a:solidFill>
              <a:srgbClr val="2A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24712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🗄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901952" y="2514600"/>
            <a:ext cx="594360" cy="594360"/>
          </a:xfrm>
          <a:prstGeom prst="ellipse">
            <a:avLst/>
          </a:prstGeom>
          <a:solidFill>
            <a:srgbClr val="1D4E8F"/>
          </a:solidFill>
          <a:ln w="12700">
            <a:solidFill>
              <a:srgbClr val="2A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01952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λ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679192" y="2514600"/>
            <a:ext cx="594360" cy="594360"/>
          </a:xfrm>
          <a:prstGeom prst="ellipse">
            <a:avLst/>
          </a:prstGeom>
          <a:solidFill>
            <a:srgbClr val="1D4E8F"/>
          </a:solidFill>
          <a:ln w="12700">
            <a:solidFill>
              <a:srgbClr val="2A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79192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456432" y="2514600"/>
            <a:ext cx="594360" cy="594360"/>
          </a:xfrm>
          <a:prstGeom prst="ellipse">
            <a:avLst/>
          </a:prstGeom>
          <a:solidFill>
            <a:srgbClr val="1D4E8F"/>
          </a:solidFill>
          <a:ln w="12700">
            <a:solidFill>
              <a:srgbClr val="2A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56432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📨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233672" y="2514600"/>
            <a:ext cx="594360" cy="594360"/>
          </a:xfrm>
          <a:prstGeom prst="ellipse">
            <a:avLst/>
          </a:prstGeom>
          <a:solidFill>
            <a:srgbClr val="1D4E8F"/>
          </a:solidFill>
          <a:ln w="12700">
            <a:solidFill>
              <a:srgbClr val="2A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33672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📢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10912" y="2514600"/>
            <a:ext cx="594360" cy="594360"/>
          </a:xfrm>
          <a:prstGeom prst="ellipse">
            <a:avLst/>
          </a:prstGeom>
          <a:solidFill>
            <a:srgbClr val="1D4E8F"/>
          </a:solidFill>
          <a:ln w="12700">
            <a:solidFill>
              <a:srgbClr val="2A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10912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788152" y="2514600"/>
            <a:ext cx="594360" cy="594360"/>
          </a:xfrm>
          <a:prstGeom prst="ellipse">
            <a:avLst/>
          </a:prstGeom>
          <a:solidFill>
            <a:srgbClr val="1D4E8F"/>
          </a:solidFill>
          <a:ln w="12700">
            <a:solidFill>
              <a:srgbClr val="2A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88152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565392" y="2514600"/>
            <a:ext cx="594360" cy="594360"/>
          </a:xfrm>
          <a:prstGeom prst="ellipse">
            <a:avLst/>
          </a:prstGeom>
          <a:solidFill>
            <a:srgbClr val="1D4E8F"/>
          </a:solidFill>
          <a:ln w="12700">
            <a:solidFill>
              <a:srgbClr val="2A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65392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342632" y="2514600"/>
            <a:ext cx="594360" cy="594360"/>
          </a:xfrm>
          <a:prstGeom prst="ellipse">
            <a:avLst/>
          </a:prstGeom>
          <a:solidFill>
            <a:srgbClr val="1D4E8F"/>
          </a:solidFill>
          <a:ln w="12700">
            <a:solidFill>
              <a:srgbClr val="2A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42632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☁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119872" y="2514600"/>
            <a:ext cx="594360" cy="594360"/>
          </a:xfrm>
          <a:prstGeom prst="ellipse">
            <a:avLst/>
          </a:prstGeom>
          <a:solidFill>
            <a:srgbClr val="1D4E8F"/>
          </a:solidFill>
          <a:ln w="12700">
            <a:solidFill>
              <a:srgbClr val="2A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119872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🏦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897112" y="2514600"/>
            <a:ext cx="594360" cy="594360"/>
          </a:xfrm>
          <a:prstGeom prst="ellipse">
            <a:avLst/>
          </a:prstGeom>
          <a:solidFill>
            <a:srgbClr val="1D4E8F"/>
          </a:solidFill>
          <a:ln w="12700">
            <a:solidFill>
              <a:srgbClr val="2A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897112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⚖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57200" y="36118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EC2  ·  S3  ·  Lambda  ·  DynamoDB  ·  SQS  ·  SNS  ·  API Gateway  ·  CloudWatch  ·  IAM  ·  CloudFormation  ·  RDS  ·  ELB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0D6"/>
                </a:solidFill>
              </a:rPr>
              <a:t>AWS SDK for Java v2  ·  AWS CLI v2  ·  Free tier eligible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411480"/>
            <a:ext cx="640080" cy="64008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🖥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28600" y="32918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</a:rPr>
              <a:t>Elastic Compute Cloud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</a:rPr>
              <a:t>Virtual servers in the cloud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49040" y="14630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3A6B"/>
                </a:solidFill>
              </a:rPr>
              <a:t>EC2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3749040" y="347472"/>
            <a:ext cx="1097280" cy="347472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749040" y="3474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AWS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49040" y="25146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What it is: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49040" y="283464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</a:rPr>
              <a:t>A virtual server in AWS — you choose OS, CPU, RAM. Your Spring Boot app runs exactly like on your laptop, always online.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49040" y="35204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49040" y="3840480"/>
            <a:ext cx="1188720" cy="548640"/>
          </a:xfrm>
          <a:prstGeom prst="rect">
            <a:avLst/>
          </a:prstGeom>
          <a:solidFill>
            <a:srgbClr val="0A7B6B"/>
          </a:solidFill>
          <a:ln w="12700">
            <a:solidFill>
              <a:srgbClr val="0A7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49040" y="3840480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Browser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414223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User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37760" y="4114800"/>
            <a:ext cx="365760" cy="0"/>
          </a:xfrm>
          <a:prstGeom prst="line">
            <a:avLst/>
          </a:prstGeom>
          <a:noFill/>
          <a:ln w="3175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 rot="5400000">
            <a:off x="5193792" y="4023360"/>
            <a:ext cx="164592" cy="182880"/>
          </a:xfrm>
          <a:prstGeom prst="triangl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349240" y="3840480"/>
            <a:ext cx="1234440" cy="54864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49240" y="3840480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Internet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49240" y="4142232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Public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83680" y="4114800"/>
            <a:ext cx="365760" cy="0"/>
          </a:xfrm>
          <a:prstGeom prst="line">
            <a:avLst/>
          </a:prstGeom>
          <a:noFill/>
          <a:ln w="3175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 rot="5400000">
            <a:off x="6839712" y="4023360"/>
            <a:ext cx="164592" cy="182880"/>
          </a:xfrm>
          <a:prstGeom prst="triangl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995160" y="3840480"/>
            <a:ext cx="16002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95160" y="384048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EC2 :8080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95160" y="4142232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Spring Boot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D6F0E2"/>
          </a:solidFill>
          <a:ln w="19050">
            <a:solidFill>
              <a:srgbClr val="1A7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45720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340"/>
                </a:solidFill>
              </a:rPr>
              <a:t>FREE TIER  </a:t>
            </a:r>
            <a:r>
              <a:rPr lang="en-US" sz="1100" dirty="0">
                <a:solidFill>
                  <a:srgbClr val="1A5C38"/>
                </a:solidFill>
              </a:rPr>
              <a:t>t2.micro — 750 hours/month FREE for 12 months (1 vCPU, 1 GB RAM)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37744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 · EC2 — Setup Commands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</a:rPr>
              <a:t>Launch &amp; Deploy — Step by Step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27432"/>
          </a:xfrm>
          <a:prstGeom prst="rect">
            <a:avLst/>
          </a:prstGeom>
          <a:solidFill>
            <a:srgbClr val="D6E0F0"/>
          </a:solidFill>
          <a:ln w="12700">
            <a:solidFill>
              <a:srgbClr val="D6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4114800" cy="1417320"/>
          </a:xfrm>
          <a:prstGeom prst="rect">
            <a:avLst/>
          </a:prstGeom>
          <a:solidFill>
            <a:srgbClr val="E8EEF4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1371600"/>
            <a:ext cx="3895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STEP 1 — Launch EC2 instance (CLI)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691640"/>
            <a:ext cx="3895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</a:rPr>
              <a:t>aws ec2 run-instances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</a:rPr>
              <a:t>  --image-id ami-0c55b159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</a:rPr>
              <a:t>  --instance-type t2.micro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</a:rPr>
              <a:t>  --key-name my-key-pair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4114800" cy="1417320"/>
          </a:xfrm>
          <a:prstGeom prst="rect">
            <a:avLst/>
          </a:prstGeom>
          <a:solidFill>
            <a:srgbClr val="E8EEF4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18888" y="1371600"/>
            <a:ext cx="3895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STEP 2 — SSH into the server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18888" y="1691640"/>
            <a:ext cx="3895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</a:rPr>
              <a:t>ssh -i my-key-pair.pem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</a:rPr>
              <a:t>  ec2-user@&lt;your-public-ip&gt;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</a:rPr>
              <a:t>sudo yum install java-17-amazon-corretto -y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834640"/>
            <a:ext cx="4114800" cy="1417320"/>
          </a:xfrm>
          <a:prstGeom prst="rect">
            <a:avLst/>
          </a:prstGeom>
          <a:solidFill>
            <a:srgbClr val="E8EEF4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9768" y="2926080"/>
            <a:ext cx="3895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STEP 3 — Upload your JAR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" y="3246120"/>
            <a:ext cx="3895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</a:rPr>
              <a:t>scp -i my-key-pair.pem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</a:rPr>
              <a:t>  myapp.jar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</a:rPr>
              <a:t>  ec2-user@&lt;your-ip&gt;:/home/ec2-user/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2834640"/>
            <a:ext cx="4114800" cy="1417320"/>
          </a:xfrm>
          <a:prstGeom prst="rect">
            <a:avLst/>
          </a:prstGeom>
          <a:solidFill>
            <a:srgbClr val="E8EEF4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18888" y="2926080"/>
            <a:ext cx="3895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STEP 4 — Start the app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18888" y="3246120"/>
            <a:ext cx="3895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</a:rPr>
              <a:t>java -jar myapp.jar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</a:rPr>
              <a:t>  --server.port=8080 &amp;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</a:rPr>
              <a:t>curl http://&lt;ip&gt;:8080/api/health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D6F0E2"/>
          </a:solidFill>
          <a:ln w="19050">
            <a:solidFill>
              <a:srgbClr val="1A7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45720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340"/>
                </a:solidFill>
              </a:rPr>
              <a:t>FREE TIER  </a:t>
            </a:r>
            <a:r>
              <a:rPr lang="en-US" sz="1100" dirty="0">
                <a:solidFill>
                  <a:srgbClr val="1A5C38"/>
                </a:solidFill>
              </a:rPr>
              <a:t>AMI = Amazon Machine Image (pre-built OS). Security Group = firewall rules. Open port 22 (SSH) and 8080 (app).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377440" cy="347472"/>
          </a:xfrm>
          <a:prstGeom prst="rect">
            <a:avLst/>
          </a:prstGeom>
          <a:solidFill>
            <a:srgbClr val="0A7B6B"/>
          </a:solidFill>
          <a:ln w="12700">
            <a:solidFill>
              <a:srgbClr val="0A7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 · S3 — Simple Storage Service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</a:rPr>
              <a:t>File Storage — Architecture &amp; Java CRUD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27432"/>
          </a:xfrm>
          <a:prstGeom prst="rect">
            <a:avLst/>
          </a:prstGeom>
          <a:solidFill>
            <a:srgbClr val="D6E0F0"/>
          </a:solidFill>
          <a:ln w="12700">
            <a:solidFill>
              <a:srgbClr val="D6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29844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164592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691640"/>
            <a:ext cx="164592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Spring Boot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018538"/>
            <a:ext cx="164592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Your app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65960" y="1988820"/>
            <a:ext cx="502920" cy="0"/>
          </a:xfrm>
          <a:prstGeom prst="line">
            <a:avLst/>
          </a:prstGeom>
          <a:noFill/>
          <a:ln w="3175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 rot="5400000">
            <a:off x="2359152" y="1897380"/>
            <a:ext cx="164592" cy="182880"/>
          </a:xfrm>
          <a:prstGeom prst="triangl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14600" y="1691640"/>
            <a:ext cx="1645920" cy="594360"/>
          </a:xfrm>
          <a:prstGeom prst="rect">
            <a:avLst/>
          </a:prstGeom>
          <a:solidFill>
            <a:srgbClr val="0A7B6B"/>
          </a:solidFill>
          <a:ln w="12700">
            <a:solidFill>
              <a:srgbClr val="0A7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14600" y="1691640"/>
            <a:ext cx="164592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S3 Bucket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14600" y="2018538"/>
            <a:ext cx="164592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AWS Storage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06240" y="18288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36454F"/>
                </a:solidFill>
              </a:rPr>
              <a:t>stores ↓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06240" y="1691640"/>
            <a:ext cx="2011680" cy="594360"/>
          </a:xfrm>
          <a:prstGeom prst="rect">
            <a:avLst/>
          </a:prstGeom>
          <a:solidFill>
            <a:srgbClr val="FFF0D6"/>
          </a:solidFill>
          <a:ln w="12700">
            <a:solidFill>
              <a:srgbClr val="FFF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06240" y="1691640"/>
            <a:ext cx="201168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7B00"/>
                </a:solidFill>
              </a:rPr>
              <a:t>profile-images/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06240" y="2018538"/>
            <a:ext cx="201168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7B00"/>
                </a:solidFill>
              </a:rPr>
              <a:t>reports/  backups/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423160"/>
            <a:ext cx="2057400" cy="1920240"/>
          </a:xfrm>
          <a:prstGeom prst="rect">
            <a:avLst/>
          </a:prstGeom>
          <a:solidFill>
            <a:srgbClr val="D6F0E2"/>
          </a:solidFill>
          <a:ln w="19050">
            <a:solidFill>
              <a:srgbClr val="1A7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24688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340"/>
                </a:solidFill>
              </a:rPr>
              <a:t>Upload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788920"/>
            <a:ext cx="1874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s3.putObject(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PutObjectRequest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.builder()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.bucket(BUCKET)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.key(key)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.build(),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RequestBody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.fromBytes(data));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14600" y="2423160"/>
            <a:ext cx="2057400" cy="1920240"/>
          </a:xfrm>
          <a:prstGeom prst="rect">
            <a:avLst/>
          </a:prstGeom>
          <a:solidFill>
            <a:srgbClr val="D6F5EF"/>
          </a:solidFill>
          <a:ln w="19050">
            <a:solidFill>
              <a:srgbClr val="0A7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606040" y="24688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B6B"/>
                </a:solidFill>
              </a:rPr>
              <a:t>Download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06040" y="2788920"/>
            <a:ext cx="1874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s3.getObjectAsBytes(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GetObjectRequest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.builder()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.bucket(BUCKET)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.key(key)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.build())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.asByteArray();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2423160"/>
            <a:ext cx="2057400" cy="1920240"/>
          </a:xfrm>
          <a:prstGeom prst="rect">
            <a:avLst/>
          </a:prstGeom>
          <a:solidFill>
            <a:srgbClr val="D6E0F0"/>
          </a:solidFill>
          <a:ln w="1905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24688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List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2788920"/>
            <a:ext cx="1874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s3.listObjectsV2(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ListObjectsV2Request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.builder()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.bucket(BUCKET)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.build())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.contents().stream()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.map(S3Object::key)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.toList();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03720" y="2423160"/>
            <a:ext cx="2057400" cy="1920240"/>
          </a:xfrm>
          <a:prstGeom prst="rect">
            <a:avLst/>
          </a:prstGeom>
          <a:solidFill>
            <a:srgbClr val="FDECEA"/>
          </a:solidFill>
          <a:ln w="19050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95160" y="24688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3A2E"/>
                </a:solidFill>
              </a:rPr>
              <a:t>Delete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95160" y="2788920"/>
            <a:ext cx="1874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s3.deleteObject(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DeleteObjectRequest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.builder()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.bucket(BUCKET)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.key(key)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.build());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D6F0E2"/>
          </a:solidFill>
          <a:ln w="19050">
            <a:solidFill>
              <a:srgbClr val="1A7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1480" y="45720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340"/>
                </a:solidFill>
              </a:rPr>
              <a:t>FREE TIER  </a:t>
            </a:r>
            <a:r>
              <a:rPr lang="en-US" sz="1100" dirty="0">
                <a:solidFill>
                  <a:srgbClr val="1A5C38"/>
                </a:solidFill>
              </a:rPr>
              <a:t>5 GB storage + 20,000 GET requests/month FREE — always free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377440" cy="347472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 · Lambda — Serverless Functions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</a:rPr>
              <a:t>Run code without managing a server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27432"/>
          </a:xfrm>
          <a:prstGeom prst="rect">
            <a:avLst/>
          </a:prstGeom>
          <a:solidFill>
            <a:srgbClr val="D6E0F0"/>
          </a:solidFill>
          <a:ln w="12700">
            <a:solidFill>
              <a:srgbClr val="D6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2984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Trigger types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2057400" cy="1188720"/>
          </a:xfrm>
          <a:prstGeom prst="rect">
            <a:avLst/>
          </a:prstGeom>
          <a:solidFill>
            <a:srgbClr val="FFF0D6"/>
          </a:solidFill>
          <a:ln w="1905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7647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🪣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93192" y="22219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7B00"/>
                </a:solidFill>
              </a:rPr>
              <a:t>S3 Upload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" y="2514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6454F"/>
                </a:solidFill>
              </a:rPr>
              <a:t>File added to bucket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6454F"/>
                </a:solidFill>
              </a:rPr>
              <a:t>triggers function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1691640"/>
            <a:ext cx="2057400" cy="1188720"/>
          </a:xfrm>
          <a:prstGeom prst="rect">
            <a:avLst/>
          </a:prstGeom>
          <a:solidFill>
            <a:srgbClr val="FFF0D6"/>
          </a:solidFill>
          <a:ln w="1905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14600" y="17647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📨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87752" y="22219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7B00"/>
                </a:solidFill>
              </a:rPr>
              <a:t>SQS Message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87752" y="2514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6454F"/>
                </a:solidFill>
              </a:rPr>
              <a:t>Queue message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6454F"/>
                </a:solidFill>
              </a:rPr>
              <a:t>triggers function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1691640"/>
            <a:ext cx="2057400" cy="1188720"/>
          </a:xfrm>
          <a:prstGeom prst="rect">
            <a:avLst/>
          </a:prstGeom>
          <a:solidFill>
            <a:srgbClr val="FFF0D6"/>
          </a:solidFill>
          <a:ln w="1905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17647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82312" y="22219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7B00"/>
                </a:solidFill>
              </a:rPr>
              <a:t>Timer / CRON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82312" y="2514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6454F"/>
                </a:solidFill>
              </a:rPr>
              <a:t>Scheduled via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6454F"/>
                </a:solidFill>
              </a:rPr>
              <a:t>EventBridge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03720" y="1691640"/>
            <a:ext cx="2057400" cy="1188720"/>
          </a:xfrm>
          <a:prstGeom prst="rect">
            <a:avLst/>
          </a:prstGeom>
          <a:solidFill>
            <a:srgbClr val="FFF0D6"/>
          </a:solidFill>
          <a:ln w="1905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03720" y="17647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976872" y="22219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7B00"/>
                </a:solidFill>
              </a:rPr>
              <a:t>HTTP Request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76872" y="2514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6454F"/>
                </a:solidFill>
              </a:rPr>
              <a:t>API Gateway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6454F"/>
                </a:solidFill>
              </a:rPr>
              <a:t>calls Lambda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" y="29992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Java handler structure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337560"/>
            <a:ext cx="4251960" cy="1572768"/>
          </a:xfrm>
          <a:prstGeom prst="rect">
            <a:avLst/>
          </a:prstGeom>
          <a:solidFill>
            <a:srgbClr val="1E2D3D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429000"/>
            <a:ext cx="39776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MyHandler implements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RequestHandler&lt;S3Event, String&gt; {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String handleRequest(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S3Event event, Context ctx)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key = event.getRecords()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.get(0).getS3().getObject().getKey();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your logic here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"Processed: " + key;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00600" y="12984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Deploy steps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00600" y="1691640"/>
            <a:ext cx="384048" cy="384048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006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5780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Package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57800" y="19659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package -DskipTests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00600" y="2788920"/>
            <a:ext cx="384048" cy="384048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0060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57800" y="2788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Create function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57800" y="30632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lambda create-function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--function-name MyFn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--runtime java17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00600" y="3886200"/>
            <a:ext cx="384048" cy="384048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0060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5780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Test invoke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57800" y="41605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lambda invoke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--function-name MyFn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response.json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D6F0E2"/>
          </a:solidFill>
          <a:ln w="19050">
            <a:solidFill>
              <a:srgbClr val="1A7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11480" y="45720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340"/>
                </a:solidFill>
              </a:rPr>
              <a:t>FREE TIER  </a:t>
            </a:r>
            <a:r>
              <a:rPr lang="en-US" sz="1100" dirty="0">
                <a:solidFill>
                  <a:srgbClr val="1A5C38"/>
                </a:solidFill>
              </a:rPr>
              <a:t>1 million requests + 400,000 GB-seconds compute per month FREE — always free (never idle charges)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377440" cy="347472"/>
          </a:xfrm>
          <a:prstGeom prst="rect">
            <a:avLst/>
          </a:prstGeom>
          <a:solidFill>
            <a:srgbClr val="4A2D8F"/>
          </a:solidFill>
          <a:ln w="12700">
            <a:solidFill>
              <a:srgbClr val="4A2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 · DynamoDB — NoSQL Database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</a:rPr>
              <a:t>Managed NoSQL · millisecond latency · auto-scaling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27432"/>
          </a:xfrm>
          <a:prstGeom prst="rect">
            <a:avLst/>
          </a:prstGeom>
          <a:solidFill>
            <a:srgbClr val="D6E0F0"/>
          </a:solidFill>
          <a:ln w="12700">
            <a:solidFill>
              <a:srgbClr val="D6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2984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Table structure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4114800" cy="1280160"/>
          </a:xfrm>
          <a:prstGeom prst="rect">
            <a:avLst/>
          </a:prstGeom>
          <a:solidFill>
            <a:srgbClr val="EDE7F6"/>
          </a:solidFill>
          <a:ln w="19050">
            <a:solidFill>
              <a:srgbClr val="4A2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2D8F"/>
                </a:solidFill>
              </a:rPr>
              <a:t>Table: Users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1645920" cy="502920"/>
          </a:xfrm>
          <a:prstGeom prst="rect">
            <a:avLst/>
          </a:prstGeom>
          <a:solidFill>
            <a:srgbClr val="4A2D8F"/>
          </a:solidFill>
          <a:ln w="12700">
            <a:solidFill>
              <a:srgbClr val="4A2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Partition Key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userId (String)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40280" y="2148840"/>
            <a:ext cx="2011680" cy="502920"/>
          </a:xfrm>
          <a:prstGeom prst="rect">
            <a:avLst/>
          </a:prstGeom>
          <a:solidFill>
            <a:srgbClr val="D6E0F0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40280" y="2148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3A6B"/>
                </a:solidFill>
              </a:rPr>
              <a:t>Attributes: name, email,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B3A6B"/>
                </a:solidFill>
              </a:rPr>
              <a:t>createdAt (any type)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697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4FA0"/>
                </a:solidFill>
              </a:rPr>
              <a:t>No fixed schema — each item can have different attributes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298448"/>
            <a:ext cx="2103120" cy="1463040"/>
          </a:xfrm>
          <a:prstGeom prst="rect">
            <a:avLst/>
          </a:prstGeom>
          <a:solidFill>
            <a:srgbClr val="D6F0E2"/>
          </a:solidFill>
          <a:ln w="19050">
            <a:solidFill>
              <a:srgbClr val="1A7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13716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340"/>
                </a:solidFill>
              </a:rPr>
              <a:t>CREATE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16916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db.putItem(PutItemRequest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.builder()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.tableName(TABLE)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.item(Map.of("userId",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AttributeValue.fromS(id)))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.build());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49440" y="1298448"/>
            <a:ext cx="2103120" cy="1463040"/>
          </a:xfrm>
          <a:prstGeom prst="rect">
            <a:avLst/>
          </a:prstGeom>
          <a:solidFill>
            <a:srgbClr val="D6F5EF"/>
          </a:solidFill>
          <a:ln w="19050">
            <a:solidFill>
              <a:srgbClr val="0A7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40880" y="13716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B6B"/>
                </a:solidFill>
              </a:rPr>
              <a:t>READ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40880" y="16916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db.getItem(GetItemRequest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.builder()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.tableName(TABLE)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.key(Map.of("userId",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AttributeValue.fromS(id)))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.build()).item();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49440" y="2852928"/>
            <a:ext cx="2103120" cy="1463040"/>
          </a:xfrm>
          <a:prstGeom prst="rect">
            <a:avLst/>
          </a:prstGeom>
          <a:solidFill>
            <a:srgbClr val="D6E0F0"/>
          </a:solidFill>
          <a:ln w="1905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40880" y="2926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UPDATE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0880" y="32461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db.updateItem(UpdateItemRequest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.builder()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.updateExpression("SET email=:e")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.expressionAttributeValues(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Map.of(":e", fromS(email)))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.build());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189720" y="2852928"/>
            <a:ext cx="2103120" cy="1463040"/>
          </a:xfrm>
          <a:prstGeom prst="rect">
            <a:avLst/>
          </a:prstGeom>
          <a:solidFill>
            <a:srgbClr val="FDECEA"/>
          </a:solidFill>
          <a:ln w="19050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281160" y="2926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3A2E"/>
                </a:solidFill>
              </a:rPr>
              <a:t>DELETE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281160" y="32461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db.deleteItem(DeleteItemRequest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.builder()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.tableName(TABLE)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.key(Map.of("userId",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AttributeValue.fromS(id)))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.build());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063240"/>
            <a:ext cx="4114800" cy="1325880"/>
          </a:xfrm>
          <a:prstGeom prst="rect">
            <a:avLst/>
          </a:prstGeom>
          <a:solidFill>
            <a:srgbClr val="EEF1F3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3127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</a:rPr>
              <a:t>DynamoDB vs SQL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429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4A2D8F"/>
                </a:solidFill>
              </a:rPr>
              <a:t>DynamoDB: </a:t>
            </a:r>
            <a:r>
              <a:rPr lang="en-US" sz="1000" dirty="0">
                <a:solidFill>
                  <a:srgbClr val="36454F"/>
                </a:solidFill>
              </a:rPr>
              <a:t>key-value, no joins, auto-scale to millions req/s
</a:t>
            </a:r>
            <a:r>
              <a:rPr lang="en-US" sz="1000" b="1" dirty="0">
                <a:solidFill>
                  <a:srgbClr val="1B3A6B"/>
                </a:solidFill>
              </a:rPr>
              <a:t>RDS/MySQL: </a:t>
            </a:r>
            <a:r>
              <a:rPr lang="en-US" sz="1000" dirty="0">
                <a:solidFill>
                  <a:srgbClr val="36454F"/>
                </a:solidFill>
              </a:rPr>
              <a:t>relational, joins, transactions, complex queries
</a:t>
            </a:r>
            <a:r>
              <a:rPr lang="en-US" sz="1000" b="1" dirty="0">
                <a:solidFill>
                  <a:srgbClr val="E07B00"/>
                </a:solidFill>
              </a:rPr>
              <a:t>Rule: </a:t>
            </a:r>
            <a:r>
              <a:rPr lang="en-US" sz="1000" dirty="0">
                <a:solidFill>
                  <a:srgbClr val="36454F"/>
                </a:solidFill>
              </a:rPr>
              <a:t>use DynamoDB for scale, RDS for complex data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D6F0E2"/>
          </a:solidFill>
          <a:ln w="19050">
            <a:solidFill>
              <a:srgbClr val="1A7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1480" y="45720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340"/>
                </a:solidFill>
              </a:rPr>
              <a:t>FREE TIER  </a:t>
            </a:r>
            <a:r>
              <a:rPr lang="en-US" sz="1100" dirty="0">
                <a:solidFill>
                  <a:srgbClr val="1A5C38"/>
                </a:solidFill>
              </a:rPr>
              <a:t>25 GB storage + 25 read/write capacity units FREE — always free forever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377440" cy="347472"/>
          </a:xfrm>
          <a:prstGeom prst="rect">
            <a:avLst/>
          </a:prstGeom>
          <a:solidFill>
            <a:srgbClr val="0A7B6B"/>
          </a:solidFill>
          <a:ln w="12700">
            <a:solidFill>
              <a:srgbClr val="0A7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5+6 · SQS &amp; SNS — Messaging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</a:rPr>
              <a:t>SQS — Queue (one consumer)  ·  SNS — Pub/Sub (many)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27432"/>
          </a:xfrm>
          <a:prstGeom prst="rect">
            <a:avLst/>
          </a:prstGeom>
          <a:solidFill>
            <a:srgbClr val="D6E0F0"/>
          </a:solidFill>
          <a:ln w="12700">
            <a:solidFill>
              <a:srgbClr val="D6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29844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SQS — Message Queue (decouple services)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173736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691640"/>
            <a:ext cx="17373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Order Service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068830"/>
            <a:ext cx="173736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Producer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57400" y="2034540"/>
            <a:ext cx="548640" cy="0"/>
          </a:xfrm>
          <a:prstGeom prst="line">
            <a:avLst/>
          </a:prstGeom>
          <a:noFill/>
          <a:ln w="3175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 rot="5400000">
            <a:off x="2496312" y="1943100"/>
            <a:ext cx="164592" cy="182880"/>
          </a:xfrm>
          <a:prstGeom prst="triangl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651760" y="1691640"/>
            <a:ext cx="1737360" cy="685800"/>
          </a:xfrm>
          <a:prstGeom prst="rect">
            <a:avLst/>
          </a:prstGeom>
          <a:solidFill>
            <a:srgbClr val="0A7B6B"/>
          </a:solidFill>
          <a:ln w="12700">
            <a:solidFill>
              <a:srgbClr val="0A7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51760" y="1691640"/>
            <a:ext cx="17373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SQS Queue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2068830"/>
            <a:ext cx="173736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Messages wait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safely here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34840" y="2034540"/>
            <a:ext cx="548640" cy="0"/>
          </a:xfrm>
          <a:prstGeom prst="line">
            <a:avLst/>
          </a:prstGeom>
          <a:noFill/>
          <a:ln w="3175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 rot="5400000">
            <a:off x="4873752" y="1943100"/>
            <a:ext cx="164592" cy="182880"/>
          </a:xfrm>
          <a:prstGeom prst="triangl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0" y="1691640"/>
            <a:ext cx="173736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0" y="1691640"/>
            <a:ext cx="17373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Email Service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068830"/>
            <a:ext cx="173736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Consumer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" y="24688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A7B6B"/>
                </a:solidFill>
              </a:rPr>
              <a:t>If consumer is DOWN → messages wait safely in queue ✓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49440" y="1664208"/>
            <a:ext cx="1920240" cy="749808"/>
          </a:xfrm>
          <a:prstGeom prst="rect">
            <a:avLst/>
          </a:prstGeom>
          <a:solidFill>
            <a:srgbClr val="E8EEF4"/>
          </a:solidFill>
          <a:ln w="19050">
            <a:solidFill>
              <a:srgbClr val="0A7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95160" y="170992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D3D"/>
                </a:solidFill>
              </a:rPr>
              <a:t>Key rule: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E2D3D"/>
                </a:solidFill>
              </a:rPr>
              <a:t>Delete message AFTER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E2D3D"/>
                </a:solidFill>
              </a:rPr>
              <a:t>successful processing!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" y="283464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SNS — Pub/Sub (publish once, fan out to many)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182112"/>
            <a:ext cx="173736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3182112"/>
            <a:ext cx="17373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Order Placed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" y="3534156"/>
            <a:ext cx="17373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Event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057400" y="3502152"/>
            <a:ext cx="502920" cy="0"/>
          </a:xfrm>
          <a:prstGeom prst="line">
            <a:avLst/>
          </a:prstGeom>
          <a:noFill/>
          <a:ln w="3175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 rot="5400000">
            <a:off x="2450592" y="3410712"/>
            <a:ext cx="164592" cy="182880"/>
          </a:xfrm>
          <a:prstGeom prst="triangl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606040" y="3182112"/>
            <a:ext cx="1737360" cy="64008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606040" y="3182112"/>
            <a:ext cx="17373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SNS Topic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606040" y="3534156"/>
            <a:ext cx="17373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OrderEvents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343400" y="3502152"/>
            <a:ext cx="320040" cy="0"/>
          </a:xfrm>
          <a:prstGeom prst="line">
            <a:avLst/>
          </a:prstGeom>
          <a:noFill/>
          <a:ln w="254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63440" y="3502152"/>
            <a:ext cx="0" cy="0"/>
          </a:xfrm>
          <a:prstGeom prst="line">
            <a:avLst/>
          </a:prstGeom>
          <a:noFill/>
          <a:ln w="254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663440" y="3502152"/>
            <a:ext cx="0" cy="0"/>
          </a:xfrm>
          <a:prstGeom prst="line">
            <a:avLst/>
          </a:prstGeom>
          <a:noFill/>
          <a:ln w="254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663440" y="2999232"/>
            <a:ext cx="411480" cy="0"/>
          </a:xfrm>
          <a:prstGeom prst="line">
            <a:avLst/>
          </a:prstGeom>
          <a:noFill/>
          <a:ln w="254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63440" y="3502152"/>
            <a:ext cx="411480" cy="0"/>
          </a:xfrm>
          <a:prstGeom prst="line">
            <a:avLst/>
          </a:prstGeom>
          <a:noFill/>
          <a:ln w="254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663440" y="4005072"/>
            <a:ext cx="0" cy="502920"/>
          </a:xfrm>
          <a:prstGeom prst="line">
            <a:avLst/>
          </a:prstGeom>
          <a:noFill/>
          <a:ln w="254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663440" y="4507992"/>
            <a:ext cx="411480" cy="0"/>
          </a:xfrm>
          <a:prstGeom prst="line">
            <a:avLst/>
          </a:prstGeom>
          <a:noFill/>
          <a:ln w="254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120640" y="2816352"/>
            <a:ext cx="2011680" cy="502920"/>
          </a:xfrm>
          <a:prstGeom prst="rect">
            <a:avLst/>
          </a:prstGeom>
          <a:solidFill>
            <a:srgbClr val="D6F5EF"/>
          </a:solidFill>
          <a:ln w="12700">
            <a:solidFill>
              <a:srgbClr val="D6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120640" y="2816352"/>
            <a:ext cx="201168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7B6B"/>
                </a:solidFill>
              </a:rPr>
              <a:t>SQS → Email queue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120640" y="3319272"/>
            <a:ext cx="2011680" cy="502920"/>
          </a:xfrm>
          <a:prstGeom prst="rect">
            <a:avLst/>
          </a:prstGeom>
          <a:solidFill>
            <a:srgbClr val="D6F0E2"/>
          </a:solidFill>
          <a:ln w="12700">
            <a:solidFill>
              <a:srgbClr val="D6F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120640" y="3319272"/>
            <a:ext cx="201168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340"/>
                </a:solidFill>
              </a:rPr>
              <a:t>Lambda → Analytics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120640" y="3822192"/>
            <a:ext cx="2011680" cy="502920"/>
          </a:xfrm>
          <a:prstGeom prst="rect">
            <a:avLst/>
          </a:prstGeom>
          <a:solidFill>
            <a:srgbClr val="FFF0D6"/>
          </a:solidFill>
          <a:ln w="12700">
            <a:solidFill>
              <a:srgbClr val="FFF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120640" y="3822192"/>
            <a:ext cx="201168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7B00"/>
                </a:solidFill>
              </a:rPr>
              <a:t>SMS → Admin alert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20640" y="4389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A7B6B"/>
                </a:solidFill>
              </a:rPr>
              <a:t>All 3 fire SIMULTANEOUSLY from one publish() call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D6F0E2"/>
          </a:solidFill>
          <a:ln w="19050">
            <a:solidFill>
              <a:srgbClr val="1A7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11480" y="45720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340"/>
                </a:solidFill>
              </a:rPr>
              <a:t>FREE TIER  </a:t>
            </a:r>
            <a:r>
              <a:rPr lang="en-US" sz="1100" dirty="0">
                <a:solidFill>
                  <a:srgbClr val="1A5C38"/>
                </a:solidFill>
              </a:rPr>
              <a:t>SQS: 1M requests/month free · SNS: 1M publishes + 1,000 email notifications free — always free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377440" cy="347472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 · API Gateway — HTTP Front Door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</a:rPr>
              <a:t>Public HTTP endpoints routed to Lambda, EC2, or services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27432"/>
          </a:xfrm>
          <a:prstGeom prst="rect">
            <a:avLst/>
          </a:prstGeom>
          <a:solidFill>
            <a:srgbClr val="D6E0F0"/>
          </a:solidFill>
          <a:ln w="12700">
            <a:solidFill>
              <a:srgbClr val="D6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29844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Full serverless REST API pattern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2011680" cy="77724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691640"/>
            <a:ext cx="20116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Client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119122"/>
            <a:ext cx="201168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App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31720" y="2075688"/>
            <a:ext cx="274320" cy="0"/>
          </a:xfrm>
          <a:prstGeom prst="line">
            <a:avLst/>
          </a:prstGeom>
          <a:noFill/>
          <a:ln w="3175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 rot="5400000">
            <a:off x="2496312" y="1984248"/>
            <a:ext cx="164592" cy="182880"/>
          </a:xfrm>
          <a:prstGeom prst="triangl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0" y="1691640"/>
            <a:ext cx="2011680" cy="77724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60320" y="1691640"/>
            <a:ext cx="20116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API Gateway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2119122"/>
            <a:ext cx="201168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HTTPS / Auth / SSL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2075688"/>
            <a:ext cx="274320" cy="0"/>
          </a:xfrm>
          <a:prstGeom prst="line">
            <a:avLst/>
          </a:prstGeom>
          <a:noFill/>
          <a:ln w="3175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 rot="5400000">
            <a:off x="4736592" y="1984248"/>
            <a:ext cx="164592" cy="182880"/>
          </a:xfrm>
          <a:prstGeom prst="triangl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00600" y="1691640"/>
            <a:ext cx="2011680" cy="777240"/>
          </a:xfrm>
          <a:prstGeom prst="rect">
            <a:avLst/>
          </a:prstGeom>
          <a:solidFill>
            <a:srgbClr val="0A7B6B"/>
          </a:solidFill>
          <a:ln w="12700">
            <a:solidFill>
              <a:srgbClr val="0A7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1691640"/>
            <a:ext cx="20116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Lambda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119122"/>
            <a:ext cx="201168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Java Handler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12280" y="2075688"/>
            <a:ext cx="274320" cy="0"/>
          </a:xfrm>
          <a:prstGeom prst="line">
            <a:avLst/>
          </a:prstGeom>
          <a:noFill/>
          <a:ln w="3175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rot="5400000">
            <a:off x="6976872" y="1984248"/>
            <a:ext cx="164592" cy="182880"/>
          </a:xfrm>
          <a:prstGeom prst="triangl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040880" y="1691640"/>
            <a:ext cx="2011680" cy="777240"/>
          </a:xfrm>
          <a:prstGeom prst="rect">
            <a:avLst/>
          </a:prstGeom>
          <a:solidFill>
            <a:srgbClr val="4A2D8F"/>
          </a:solidFill>
          <a:ln w="12700">
            <a:solidFill>
              <a:srgbClr val="4A2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40880" y="1691640"/>
            <a:ext cx="20116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DynamoDB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40880" y="2119122"/>
            <a:ext cx="201168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NoSQL DB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" y="25786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6454F"/>
                </a:solidFill>
              </a:rPr>
              <a:t>Zero servers to manage · Pay per request · Scale to millions automatically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" y="294436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Create API via AWS CLI — 5 steps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3291840"/>
            <a:ext cx="1664208" cy="1051560"/>
          </a:xfrm>
          <a:prstGeom prst="rect">
            <a:avLst/>
          </a:prstGeom>
          <a:solidFill>
            <a:srgbClr val="E8EEF4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41832" y="3246120"/>
            <a:ext cx="411480" cy="4114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41832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4048" y="370332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6B"/>
                </a:solidFill>
              </a:rPr>
              <a:t>1. Create API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4048" y="397764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apigateway create-rest-api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--name "UserAPI"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084832" y="3291840"/>
            <a:ext cx="1664208" cy="1051560"/>
          </a:xfrm>
          <a:prstGeom prst="rect">
            <a:avLst/>
          </a:prstGeom>
          <a:solidFill>
            <a:srgbClr val="E8EEF4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706624" y="3246120"/>
            <a:ext cx="411480" cy="4114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06624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148840" y="370332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6B"/>
                </a:solidFill>
              </a:rPr>
              <a:t>2. Add /users resource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148840" y="397764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apigateway create-resource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--path-part users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849624" y="3291840"/>
            <a:ext cx="1664208" cy="1051560"/>
          </a:xfrm>
          <a:prstGeom prst="rect">
            <a:avLst/>
          </a:prstGeom>
          <a:solidFill>
            <a:srgbClr val="E8EEF4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471416" y="3246120"/>
            <a:ext cx="411480" cy="4114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471416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913632" y="370332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6B"/>
                </a:solidFill>
              </a:rPr>
              <a:t>3. Add GET method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913632" y="397764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apigateway put-method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--http-method GET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614416" y="3291840"/>
            <a:ext cx="1664208" cy="1051560"/>
          </a:xfrm>
          <a:prstGeom prst="rect">
            <a:avLst/>
          </a:prstGeom>
          <a:solidFill>
            <a:srgbClr val="E8EEF4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236208" y="3246120"/>
            <a:ext cx="411480" cy="4114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236208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678424" y="370332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6B"/>
                </a:solidFill>
              </a:rPr>
              <a:t>4. Connect to Lambda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678424" y="397764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apigateway put-integration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--type AWS_PROXY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379208" y="3291840"/>
            <a:ext cx="1664208" cy="1051560"/>
          </a:xfrm>
          <a:prstGeom prst="rect">
            <a:avLst/>
          </a:prstGeom>
          <a:solidFill>
            <a:srgbClr val="E8EEF4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8001000" y="3246120"/>
            <a:ext cx="411480" cy="4114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00100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443216" y="370332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6B"/>
                </a:solidFill>
              </a:rPr>
              <a:t>5. Deploy to stage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443216" y="397764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apigateway create-deployment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--stage-name prod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20040" y="440740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7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URL: https://abc123def.execute-api.us-east-1.amazonaws.com/prod/users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D6F0E2"/>
          </a:solidFill>
          <a:ln w="19050">
            <a:solidFill>
              <a:srgbClr val="1A7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11480" y="45720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340"/>
                </a:solidFill>
              </a:rPr>
              <a:t>FREE TIER  </a:t>
            </a:r>
            <a:r>
              <a:rPr lang="en-US" sz="1100" dirty="0">
                <a:solidFill>
                  <a:srgbClr val="1A5C38"/>
                </a:solidFill>
              </a:rPr>
              <a:t>1 million API calls/month FREE for the first 12 months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377440" cy="34747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 · CloudWatch — Monitoring &amp; Alerts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</a:rPr>
              <a:t>Logs · Metrics · Alarms · Dashboards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27432"/>
          </a:xfrm>
          <a:prstGeom prst="rect">
            <a:avLst/>
          </a:prstGeom>
          <a:solidFill>
            <a:srgbClr val="D6E0F0"/>
          </a:solidFill>
          <a:ln w="12700">
            <a:solidFill>
              <a:srgbClr val="D6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2743200" cy="1828800"/>
          </a:xfrm>
          <a:prstGeom prst="rect">
            <a:avLst/>
          </a:prstGeom>
          <a:solidFill>
            <a:srgbClr val="D6E0F0"/>
          </a:solidFill>
          <a:ln w="1905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</a:rPr>
              <a:t>Metrics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6454F"/>
                </a:solidFill>
              </a:rPr>
              <a:t>Numbers over time: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6454F"/>
                </a:solidFill>
              </a:rPr>
              <a:t>CPU, requests/sec,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6454F"/>
                </a:solidFill>
              </a:rPr>
              <a:t>error count, latency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298448"/>
            <a:ext cx="2743200" cy="1828800"/>
          </a:xfrm>
          <a:prstGeom prst="rect">
            <a:avLst/>
          </a:prstGeom>
          <a:solidFill>
            <a:srgbClr val="D6F5EF"/>
          </a:solidFill>
          <a:ln w="19050">
            <a:solidFill>
              <a:srgbClr val="0A7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4612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0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7B6B"/>
                </a:solidFill>
              </a:rPr>
              <a:t>Logs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221284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6454F"/>
                </a:solidFill>
              </a:rPr>
              <a:t>Application output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6454F"/>
                </a:solidFill>
              </a:rPr>
              <a:t>streamed from EC2,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6454F"/>
                </a:solidFill>
              </a:rPr>
              <a:t>Lambda, ECS, RDS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1298448"/>
            <a:ext cx="2743200" cy="1828800"/>
          </a:xfrm>
          <a:prstGeom prst="rect">
            <a:avLst/>
          </a:prstGeom>
          <a:solidFill>
            <a:srgbClr val="FFF0D6"/>
          </a:solidFill>
          <a:ln w="1905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7220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🔔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09360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7B00"/>
                </a:solidFill>
              </a:rPr>
              <a:t>Alarms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221284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6454F"/>
                </a:solidFill>
              </a:rPr>
              <a:t>Alert when a metric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6454F"/>
                </a:solidFill>
              </a:rPr>
              <a:t>crosses a threshold.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6454F"/>
                </a:solidFill>
              </a:rPr>
              <a:t>Notify via SNS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32186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Java — custom metric + alarm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547872"/>
            <a:ext cx="4160520" cy="1371600"/>
          </a:xfrm>
          <a:prstGeom prst="rect">
            <a:avLst/>
          </a:prstGeom>
          <a:solidFill>
            <a:srgbClr val="1E2D3D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639312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Send a custom metric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cw.putMetricData(PutMetricDataRequest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.builder()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.namespace("MyApp/Orders")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.metricData(MetricDatum.builder()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.metricName("OrdersPlaced")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.value((double) count)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.unit(StandardUnit.COUNT)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.build())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.build());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3440" y="32186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Alarm flow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3566160"/>
            <a:ext cx="1645920" cy="548640"/>
          </a:xfrm>
          <a:prstGeom prst="rect">
            <a:avLst/>
          </a:prstGeom>
          <a:solidFill>
            <a:srgbClr val="D6E0F0"/>
          </a:solidFill>
          <a:ln w="12700">
            <a:solidFill>
              <a:srgbClr val="D6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63440" y="356616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</a:rPr>
              <a:t>Metric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386791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3A6B"/>
                </a:solidFill>
              </a:rPr>
              <a:t>Error count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09360" y="3840480"/>
            <a:ext cx="457200" cy="0"/>
          </a:xfrm>
          <a:prstGeom prst="line">
            <a:avLst/>
          </a:prstGeom>
          <a:noFill/>
          <a:ln w="3175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 rot="5400000">
            <a:off x="6656832" y="3749040"/>
            <a:ext cx="164592" cy="182880"/>
          </a:xfrm>
          <a:prstGeom prst="triangl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812280" y="3566160"/>
            <a:ext cx="1188720" cy="548640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12280" y="3566160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Alarm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12280" y="386791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errors &gt; 10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01000" y="3840480"/>
            <a:ext cx="365760" cy="0"/>
          </a:xfrm>
          <a:prstGeom prst="line">
            <a:avLst/>
          </a:prstGeom>
          <a:noFill/>
          <a:ln w="3175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 rot="5400000">
            <a:off x="8257032" y="3749040"/>
            <a:ext cx="164592" cy="182880"/>
          </a:xfrm>
          <a:prstGeom prst="triangl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366760" y="358444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7B00"/>
                </a:solidFill>
              </a:rPr>
              <a:t>SNS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07B00"/>
                </a:solidFill>
              </a:rPr>
              <a:t>Notify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63440" y="4206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6454F"/>
                </a:solidFill>
              </a:rPr>
              <a:t>→ Email, SMS, or trigger auto-remediation Lambda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4526280"/>
            <a:ext cx="4206240" cy="502920"/>
          </a:xfrm>
          <a:prstGeom prst="rect">
            <a:avLst/>
          </a:prstGeom>
          <a:solidFill>
            <a:srgbClr val="E8EEF4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5488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log.info("orderId={} amount={}", id, amount);  // structured → CloudWatch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D6F0E2"/>
          </a:solidFill>
          <a:ln w="19050">
            <a:solidFill>
              <a:srgbClr val="1A7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11480" y="45720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340"/>
                </a:solidFill>
              </a:rPr>
              <a:t>FREE TIER  </a:t>
            </a:r>
            <a:r>
              <a:rPr lang="en-US" sz="1100" dirty="0">
                <a:solidFill>
                  <a:srgbClr val="1A5C38"/>
                </a:solidFill>
              </a:rPr>
              <a:t>10 custom metrics · 10 alarms · 5 GB logs FREE — always free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377440" cy="347472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9 · IAM — Identity &amp; Access Management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</a:rPr>
              <a:t>Who can do what in your AWS account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27432"/>
          </a:xfrm>
          <a:prstGeom prst="rect">
            <a:avLst/>
          </a:prstGeom>
          <a:solidFill>
            <a:srgbClr val="D6E0F0"/>
          </a:solidFill>
          <a:ln w="12700">
            <a:solidFill>
              <a:srgbClr val="D6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2984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Principle of Least Privilege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1371600" cy="594360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691640"/>
            <a:ext cx="137160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Root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018538"/>
            <a:ext cx="137160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Account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91640" y="1988820"/>
            <a:ext cx="502920" cy="0"/>
          </a:xfrm>
          <a:prstGeom prst="line">
            <a:avLst/>
          </a:prstGeom>
          <a:noFill/>
          <a:ln w="3175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 rot="5400000">
            <a:off x="2084832" y="1897380"/>
            <a:ext cx="164592" cy="182880"/>
          </a:xfrm>
          <a:prstGeom prst="triangl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240280" y="1691640"/>
            <a:ext cx="192024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40280" y="1691640"/>
            <a:ext cx="192024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IAM Role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40280" y="2018538"/>
            <a:ext cx="192024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LambdaRole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60520" y="1988820"/>
            <a:ext cx="502920" cy="0"/>
          </a:xfrm>
          <a:prstGeom prst="line">
            <a:avLst/>
          </a:prstGeom>
          <a:noFill/>
          <a:ln w="3175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 rot="5400000">
            <a:off x="4553712" y="1897380"/>
            <a:ext cx="164592" cy="182880"/>
          </a:xfrm>
          <a:prstGeom prst="triangl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09160" y="16916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B6B"/>
                </a:solidFill>
              </a:rPr>
              <a:t>Allows ONLY: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A7B6B"/>
                </a:solidFill>
              </a:rPr>
              <a:t>DynamoDB:GetItem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A7B6B"/>
                </a:solidFill>
              </a:rPr>
              <a:t>S3:PutObject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664208"/>
            <a:ext cx="2331720" cy="640080"/>
          </a:xfrm>
          <a:prstGeom prst="rect">
            <a:avLst/>
          </a:prstGeom>
          <a:solidFill>
            <a:srgbClr val="D6F5EF"/>
          </a:solidFill>
          <a:ln w="19050">
            <a:solidFill>
              <a:srgbClr val="0A7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09160" y="170992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B6B"/>
                </a:solidFill>
              </a:rPr>
              <a:t>Allows ONLY: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A7B6B"/>
                </a:solidFill>
              </a:rPr>
              <a:t>DynamoDB:GetItem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A7B6B"/>
                </a:solidFill>
              </a:rPr>
              <a:t>S3:PutObject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239572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3-step setup via CLI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743200"/>
            <a:ext cx="2834640" cy="2514600"/>
          </a:xfrm>
          <a:prstGeom prst="rect">
            <a:avLst/>
          </a:prstGeom>
          <a:solidFill>
            <a:srgbClr val="E8EEF4"/>
          </a:solidFill>
          <a:ln w="1905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2743200"/>
            <a:ext cx="283464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27614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  Create Policy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3182112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iam create-policy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--policy-name MyAppPolicy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--policy-document '{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"Statement":[{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"Effect":"Allow",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"Action":["s3:PutObject",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"dynamodb:GetItem"],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"Resource":"..."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}'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91840" y="2743200"/>
            <a:ext cx="2834640" cy="2514600"/>
          </a:xfrm>
          <a:prstGeom prst="rect">
            <a:avLst/>
          </a:prstGeom>
          <a:solidFill>
            <a:srgbClr val="E8EEF4"/>
          </a:solidFill>
          <a:ln w="1905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91840" y="2743200"/>
            <a:ext cx="283464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83280" y="27614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 Create Role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0" y="3182112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iam create-role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--role-name MyLambdaRole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--assume-role-policy-document '{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"Statement":[{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"Effect":"Allow",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"Principal":{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"Service":"lambda.amazonaws.com"},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"Action":"sts:AssumeRole"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}'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63640" y="2743200"/>
            <a:ext cx="2834640" cy="2514600"/>
          </a:xfrm>
          <a:prstGeom prst="rect">
            <a:avLst/>
          </a:prstGeom>
          <a:solidFill>
            <a:srgbClr val="E8EEF4"/>
          </a:solidFill>
          <a:ln w="1905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63640" y="2743200"/>
            <a:ext cx="283464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55080" y="27614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 Attach Policy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55080" y="3182112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iam attach-role-policy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--role-name MyLambdaRole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--policy-arn \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arn:aws:iam::123:policy/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MyAppPolicy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Assign role to Lambda →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it gets these permissions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D6F0E2"/>
          </a:solidFill>
          <a:ln w="19050">
            <a:solidFill>
              <a:srgbClr val="1A7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1480" y="45720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340"/>
                </a:solidFill>
              </a:rPr>
              <a:t>FREE TIER  </a:t>
            </a:r>
            <a:r>
              <a:rPr lang="en-US" sz="1100" dirty="0">
                <a:solidFill>
                  <a:srgbClr val="1A5C38"/>
                </a:solidFill>
              </a:rPr>
              <a:t>IAM is ALWAYS FREE · Never hardcode access keys — use IAM Roles for temporary, automatic credentials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377440" cy="347472"/>
          </a:xfrm>
          <a:prstGeom prst="rect">
            <a:avLst/>
          </a:prstGeom>
          <a:solidFill>
            <a:srgbClr val="1A7340"/>
          </a:solidFill>
          <a:ln w="12700">
            <a:solidFill>
              <a:srgbClr val="1A7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 · CloudFormation — Infrastructure as Code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</a:rPr>
              <a:t>Define your entire AWS stack in one YAML file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27432"/>
          </a:xfrm>
          <a:prstGeom prst="rect">
            <a:avLst/>
          </a:prstGeom>
          <a:solidFill>
            <a:srgbClr val="D6E0F0"/>
          </a:solidFill>
          <a:ln w="12700">
            <a:solidFill>
              <a:srgbClr val="D6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3474720" cy="3520440"/>
          </a:xfrm>
          <a:prstGeom prst="rect">
            <a:avLst/>
          </a:prstGeom>
          <a:solidFill>
            <a:srgbClr val="D6F0E2"/>
          </a:solidFill>
          <a:ln w="19050">
            <a:solidFill>
              <a:srgbClr val="1A7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40"/>
                </a:solidFill>
              </a:rPr>
              <a:t>stack.yaml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3154680" cy="2926080"/>
          </a:xfrm>
          <a:prstGeom prst="rect">
            <a:avLst/>
          </a:prstGeom>
          <a:solidFill>
            <a:srgbClr val="1E2D3D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901952"/>
            <a:ext cx="2880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Resources: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UsersTable: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AWS::DynamoDB::Table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Properties: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TableName: !Sub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'Users-${Env}'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BillingMode: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PAY_PER_REQUEST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LambdaRole: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AWS::IAM::Role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UserFunction: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AWS::Lambda::Function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Properties: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Runtime: java17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Role: !GetAtt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LambdaRole.Arn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023360" y="12984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One command → entire environment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23360" y="1691640"/>
            <a:ext cx="2011680" cy="640080"/>
          </a:xfrm>
          <a:prstGeom prst="rect">
            <a:avLst/>
          </a:prstGeom>
          <a:solidFill>
            <a:srgbClr val="1A7340"/>
          </a:solidFill>
          <a:ln w="12700">
            <a:solidFill>
              <a:srgbClr val="1A7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023360" y="1691640"/>
            <a:ext cx="20116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stack.yaml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23360" y="2043684"/>
            <a:ext cx="20116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Your template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2011680"/>
            <a:ext cx="411480" cy="0"/>
          </a:xfrm>
          <a:prstGeom prst="line">
            <a:avLst/>
          </a:prstGeom>
          <a:noFill/>
          <a:ln w="3175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 rot="5400000">
            <a:off x="6336792" y="1920240"/>
            <a:ext cx="164592" cy="182880"/>
          </a:xfrm>
          <a:prstGeom prst="triangl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92240" y="1691640"/>
            <a:ext cx="237744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92240" y="1691640"/>
            <a:ext cx="23774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aws cloudformation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deploy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2043684"/>
            <a:ext cx="23774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1B3A6B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023360" y="24871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</a:rPr>
              <a:t>CloudFormation creates all resources: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23360" y="2816352"/>
            <a:ext cx="2286000" cy="1188720"/>
          </a:xfrm>
          <a:prstGeom prst="rect">
            <a:avLst/>
          </a:prstGeom>
          <a:solidFill>
            <a:srgbClr val="D6E0F0"/>
          </a:solidFill>
          <a:ln w="1905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0" y="2880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DynamoDB Table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0" y="32186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</a:rPr>
              <a:t>Auto-created with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</a:rPr>
              <a:t>correct schema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46520" y="2816352"/>
            <a:ext cx="2286000" cy="1188720"/>
          </a:xfrm>
          <a:prstGeom prst="rect">
            <a:avLst/>
          </a:prstGeom>
          <a:solidFill>
            <a:srgbClr val="D6F5EF"/>
          </a:solidFill>
          <a:ln w="19050">
            <a:solidFill>
              <a:srgbClr val="0A7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37960" y="2880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B6B"/>
                </a:solidFill>
              </a:rPr>
              <a:t>Lambda Function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37960" y="32186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</a:rPr>
              <a:t>Deployed with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</a:rPr>
              <a:t>role attached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023360" y="4142232"/>
            <a:ext cx="2286000" cy="1188720"/>
          </a:xfrm>
          <a:prstGeom prst="rect">
            <a:avLst/>
          </a:prstGeom>
          <a:solidFill>
            <a:srgbClr val="D6F0E2"/>
          </a:solidFill>
          <a:ln w="19050">
            <a:solidFill>
              <a:srgbClr val="1A7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0" y="4206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340"/>
                </a:solidFill>
              </a:rPr>
              <a:t>IAM Role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0" y="45445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</a:rPr>
              <a:t>Least-privilege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</a:rPr>
              <a:t>permissions set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46520" y="4142232"/>
            <a:ext cx="2286000" cy="1188720"/>
          </a:xfrm>
          <a:prstGeom prst="rect">
            <a:avLst/>
          </a:prstGeom>
          <a:solidFill>
            <a:srgbClr val="FFF0D6"/>
          </a:solidFill>
          <a:ln w="1905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37960" y="4206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B00"/>
                </a:solidFill>
              </a:rPr>
              <a:t>Stack Output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37960" y="45445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</a:rPr>
              <a:t>ARNs returned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</a:rPr>
              <a:t>for reference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023360" y="4617720"/>
            <a:ext cx="4846320" cy="91440"/>
          </a:xfrm>
          <a:prstGeom prst="rect">
            <a:avLst/>
          </a:prstGeom>
          <a:solidFill>
            <a:srgbClr val="1E2D3D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160520" y="4709160"/>
            <a:ext cx="4572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Deploy dev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cloudformation deploy \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--stack-name my-app-dev \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--parameter-overrides Env=dev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Deploy prod — same template!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--parameter-overrides Env=prod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D6F0E2"/>
          </a:solidFill>
          <a:ln w="19050">
            <a:solidFill>
              <a:srgbClr val="1A7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11480" y="45720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340"/>
                </a:solidFill>
              </a:rPr>
              <a:t>FREE TIER  </a:t>
            </a:r>
            <a:r>
              <a:rPr lang="en-US" sz="1100" dirty="0">
                <a:solidFill>
                  <a:srgbClr val="1A5C38"/>
                </a:solidFill>
              </a:rPr>
              <a:t>CloudFormation is FREE · You pay only for the AWS resources it creates · Tear down with one delete command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37744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11 · RDS — Managed SQL Database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</a:rPr>
              <a:t>MySQL · PostgreSQL · Auto-backups · Auto-patching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27432"/>
          </a:xfrm>
          <a:prstGeom prst="rect">
            <a:avLst/>
          </a:prstGeom>
          <a:solidFill>
            <a:srgbClr val="D6E0F0"/>
          </a:solidFill>
          <a:ln w="12700">
            <a:solidFill>
              <a:srgbClr val="D6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29844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173736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691640"/>
            <a:ext cx="17373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Spring Boot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043684"/>
            <a:ext cx="17373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EC2 app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57400" y="2011680"/>
            <a:ext cx="548640" cy="0"/>
          </a:xfrm>
          <a:prstGeom prst="line">
            <a:avLst/>
          </a:prstGeom>
          <a:noFill/>
          <a:ln w="3175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 rot="5400000">
            <a:off x="2496312" y="1920240"/>
            <a:ext cx="164592" cy="182880"/>
          </a:xfrm>
          <a:prstGeom prst="triangl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651760" y="1691640"/>
            <a:ext cx="2011680" cy="640080"/>
          </a:xfrm>
          <a:prstGeom prst="rect">
            <a:avLst/>
          </a:prstGeom>
          <a:solidFill>
            <a:srgbClr val="0A7B6B"/>
          </a:solidFill>
          <a:ln w="12700">
            <a:solidFill>
              <a:srgbClr val="0A7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51760" y="1691640"/>
            <a:ext cx="20116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RDS MySQL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2043684"/>
            <a:ext cx="20116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Private subnet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2011680"/>
            <a:ext cx="502920" cy="0"/>
          </a:xfrm>
          <a:prstGeom prst="line">
            <a:avLst/>
          </a:prstGeom>
          <a:noFill/>
          <a:ln w="3175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 rot="5400000">
            <a:off x="5102352" y="1920240"/>
            <a:ext cx="164592" cy="182880"/>
          </a:xfrm>
          <a:prstGeom prst="triangl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257800" y="1691640"/>
            <a:ext cx="1828800" cy="640080"/>
          </a:xfrm>
          <a:prstGeom prst="rect">
            <a:avLst/>
          </a:prstGeom>
          <a:solidFill>
            <a:srgbClr val="D6F0E2"/>
          </a:solidFill>
          <a:ln w="12700">
            <a:solidFill>
              <a:srgbClr val="D6F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57800" y="1691640"/>
            <a:ext cx="18288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340"/>
                </a:solidFill>
              </a:rPr>
              <a:t>Auto Backups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57800" y="2043684"/>
            <a:ext cx="18288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7340"/>
                </a:solidFill>
              </a:rPr>
              <a:t>→ S3 storage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" y="24505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6454F"/>
                </a:solidFill>
              </a:rPr>
              <a:t>Your app connects via JDBC — Spring Boot + JPA works unchanged, just change the URL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27889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Create via CLI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127248"/>
            <a:ext cx="4160520" cy="1828800"/>
          </a:xfrm>
          <a:prstGeom prst="rect">
            <a:avLst/>
          </a:prstGeom>
          <a:solidFill>
            <a:srgbClr val="1E2D3D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218688"/>
            <a:ext cx="3886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rds create-db-instance \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--db-instance-identifier myapp-db \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--db-instance-class db.t3.micro \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--engine mysql \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--engine-version 8.0 \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--master-username admin \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--master-user-password SecurePass! \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--allocated-storage 20 \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--backup-retention-period 7 \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--no-publicly-accessible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3440" y="27889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Spring Boot application.yml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3127248"/>
            <a:ext cx="4206240" cy="1828800"/>
          </a:xfrm>
          <a:prstGeom prst="rect">
            <a:avLst/>
          </a:prstGeom>
          <a:solidFill>
            <a:srgbClr val="1E2D3D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3218688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datasource: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url: jdbc:mysql://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myapp-db.abc123.rds.amazonaws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.com:3306/myappdb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username: admin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password: ${DB_PASSWORD}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↑ env var — never hardcode!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jpa: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hibernate: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ddl-auto: update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D6F0E2"/>
          </a:solidFill>
          <a:ln w="19050">
            <a:solidFill>
              <a:srgbClr val="1A7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1480" y="45720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340"/>
                </a:solidFill>
              </a:rPr>
              <a:t>FREE TIER  </a:t>
            </a:r>
            <a:r>
              <a:rPr lang="en-US" sz="1100" dirty="0">
                <a:solidFill>
                  <a:srgbClr val="1A5C38"/>
                </a:solidFill>
              </a:rPr>
              <a:t>db.t3.micro MySQL/PostgreSQL — 750 hours/month FREE for 12 months · 20 GB storage included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377440" cy="347472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12 · ELB + Auto Scaling — Handle Any Load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</a:rPr>
              <a:t>Load Balancer distributes traffic · Auto Scaling adds servers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27432"/>
          </a:xfrm>
          <a:prstGeom prst="rect">
            <a:avLst/>
          </a:prstGeom>
          <a:solidFill>
            <a:srgbClr val="D6E0F0"/>
          </a:solidFill>
          <a:ln w="12700">
            <a:solidFill>
              <a:srgbClr val="D6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29844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How it works — end to 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1554480" cy="6400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691640"/>
            <a:ext cx="15544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10,000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74520" y="2011680"/>
            <a:ext cx="411480" cy="0"/>
          </a:xfrm>
          <a:prstGeom prst="line">
            <a:avLst/>
          </a:prstGeom>
          <a:noFill/>
          <a:ln w="3175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rot="5400000">
            <a:off x="2176272" y="1920240"/>
            <a:ext cx="164592" cy="182880"/>
          </a:xfrm>
          <a:prstGeom prst="triangl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331720" y="1691640"/>
            <a:ext cx="201168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331720" y="1691640"/>
            <a:ext cx="20116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Application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Load Balancer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31720" y="2043684"/>
            <a:ext cx="20116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E07B00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43400" y="2011680"/>
            <a:ext cx="320040" cy="0"/>
          </a:xfrm>
          <a:prstGeom prst="line">
            <a:avLst/>
          </a:prstGeom>
          <a:noFill/>
          <a:ln w="3175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 rot="5400000">
            <a:off x="4553712" y="1920240"/>
            <a:ext cx="164592" cy="182880"/>
          </a:xfrm>
          <a:prstGeom prst="triangl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2011680"/>
            <a:ext cx="0" cy="0"/>
          </a:xfrm>
          <a:prstGeom prst="line">
            <a:avLst/>
          </a:prstGeom>
          <a:noFill/>
          <a:ln w="254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1508760"/>
            <a:ext cx="457200" cy="0"/>
          </a:xfrm>
          <a:prstGeom prst="line">
            <a:avLst/>
          </a:prstGeom>
          <a:noFill/>
          <a:ln w="254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2011680"/>
            <a:ext cx="457200" cy="0"/>
          </a:xfrm>
          <a:prstGeom prst="line">
            <a:avLst/>
          </a:prstGeom>
          <a:noFill/>
          <a:ln w="254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2514600"/>
            <a:ext cx="0" cy="502920"/>
          </a:xfrm>
          <a:prstGeom prst="line">
            <a:avLst/>
          </a:prstGeom>
          <a:noFill/>
          <a:ln w="254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457200" cy="0"/>
          </a:xfrm>
          <a:prstGeom prst="line">
            <a:avLst/>
          </a:prstGeom>
          <a:noFill/>
          <a:ln w="254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166360" y="1252728"/>
            <a:ext cx="164592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66360" y="1252728"/>
            <a:ext cx="1645920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EC2 app-1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66360" y="1544422"/>
            <a:ext cx="164592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:8080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166360" y="1819656"/>
            <a:ext cx="164592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66360" y="1819656"/>
            <a:ext cx="1645920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EC2 app-2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66360" y="2111350"/>
            <a:ext cx="164592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:8080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66360" y="2386584"/>
            <a:ext cx="1645920" cy="530352"/>
          </a:xfrm>
          <a:prstGeom prst="rect">
            <a:avLst/>
          </a:prstGeom>
          <a:solidFill>
            <a:srgbClr val="0A7B6B"/>
          </a:solidFill>
          <a:ln w="12700">
            <a:solidFill>
              <a:srgbClr val="0A7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66360" y="2386584"/>
            <a:ext cx="1645920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EC2 app-3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66360" y="2678278"/>
            <a:ext cx="164592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auto-added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0" y="2011680"/>
            <a:ext cx="365760" cy="0"/>
          </a:xfrm>
          <a:prstGeom prst="line">
            <a:avLst/>
          </a:prstGeom>
          <a:noFill/>
          <a:ln w="3175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 rot="5400000">
            <a:off x="7114032" y="1920240"/>
            <a:ext cx="164592" cy="182880"/>
          </a:xfrm>
          <a:prstGeom prst="triangl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269480" y="1691640"/>
            <a:ext cx="155448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269480" y="1691640"/>
            <a:ext cx="15544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RDS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Database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69480" y="2043684"/>
            <a:ext cx="15544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4A2D8F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2944368"/>
            <a:ext cx="8503920" cy="1389888"/>
          </a:xfrm>
          <a:prstGeom prst="rect">
            <a:avLst/>
          </a:prstGeom>
          <a:solidFill>
            <a:srgbClr val="EEF1F3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29992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</a:rPr>
              <a:t>Auto Scaling logic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11480" y="3337560"/>
            <a:ext cx="1920240" cy="868680"/>
          </a:xfrm>
          <a:prstGeom prst="rect">
            <a:avLst/>
          </a:prstGeom>
          <a:solidFill>
            <a:srgbClr val="FFF0D6"/>
          </a:solidFill>
          <a:ln w="12700">
            <a:solidFill>
              <a:srgbClr val="FFF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11480" y="3337560"/>
            <a:ext cx="192024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7B00"/>
                </a:solidFill>
              </a:rPr>
              <a:t>CPU &gt; 70%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1480" y="3815334"/>
            <a:ext cx="192024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7B00"/>
                </a:solidFill>
              </a:rPr>
              <a:t>Auto Scaling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7B00"/>
                </a:solidFill>
              </a:rPr>
              <a:t>detects high load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331720" y="3771900"/>
            <a:ext cx="320040" cy="0"/>
          </a:xfrm>
          <a:prstGeom prst="line">
            <a:avLst/>
          </a:prstGeom>
          <a:noFill/>
          <a:ln w="3175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 rot="5400000">
            <a:off x="2542032" y="3680460"/>
            <a:ext cx="164592" cy="182880"/>
          </a:xfrm>
          <a:prstGeom prst="triangl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514600" y="3337560"/>
            <a:ext cx="1920240" cy="868680"/>
          </a:xfrm>
          <a:prstGeom prst="rect">
            <a:avLst/>
          </a:prstGeom>
          <a:solidFill>
            <a:srgbClr val="D6E0F0"/>
          </a:solidFill>
          <a:ln w="12700">
            <a:solidFill>
              <a:srgbClr val="D6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514600" y="3337560"/>
            <a:ext cx="192024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</a:rPr>
              <a:t>New EC2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</a:rPr>
              <a:t>launched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514600" y="3815334"/>
            <a:ext cx="192024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3A6B"/>
                </a:solidFill>
              </a:rPr>
              <a:t>App installed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B3A6B"/>
                </a:solidFill>
              </a:rPr>
              <a:t>automatically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34840" y="3771900"/>
            <a:ext cx="320040" cy="0"/>
          </a:xfrm>
          <a:prstGeom prst="line">
            <a:avLst/>
          </a:prstGeom>
          <a:noFill/>
          <a:ln w="3175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 rot="5400000">
            <a:off x="4645152" y="3680460"/>
            <a:ext cx="164592" cy="182880"/>
          </a:xfrm>
          <a:prstGeom prst="triangl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617720" y="3337560"/>
            <a:ext cx="1920240" cy="868680"/>
          </a:xfrm>
          <a:prstGeom prst="rect">
            <a:avLst/>
          </a:prstGeom>
          <a:solidFill>
            <a:srgbClr val="D6F0E2"/>
          </a:solidFill>
          <a:ln w="12700">
            <a:solidFill>
              <a:srgbClr val="D6F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617720" y="3337560"/>
            <a:ext cx="192024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340"/>
                </a:solidFill>
              </a:rPr>
              <a:t>ALB health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7340"/>
                </a:solidFill>
              </a:rPr>
              <a:t>check passes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617720" y="3815334"/>
            <a:ext cx="192024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7340"/>
                </a:solidFill>
              </a:rPr>
              <a:t>/api/health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7340"/>
                </a:solidFill>
              </a:rPr>
              <a:t>returns 200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537960" y="3771900"/>
            <a:ext cx="320040" cy="0"/>
          </a:xfrm>
          <a:prstGeom prst="line">
            <a:avLst/>
          </a:prstGeom>
          <a:noFill/>
          <a:ln w="3175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 rot="5400000">
            <a:off x="6748272" y="3680460"/>
            <a:ext cx="164592" cy="182880"/>
          </a:xfrm>
          <a:prstGeom prst="triangl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720840" y="3337560"/>
            <a:ext cx="1920240" cy="868680"/>
          </a:xfrm>
          <a:prstGeom prst="rect">
            <a:avLst/>
          </a:prstGeom>
          <a:solidFill>
            <a:srgbClr val="D6F5EF"/>
          </a:solidFill>
          <a:ln w="12700">
            <a:solidFill>
              <a:srgbClr val="D6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720840" y="3337560"/>
            <a:ext cx="192024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7B6B"/>
                </a:solidFill>
              </a:rPr>
              <a:t>Traffic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7B6B"/>
                </a:solidFill>
              </a:rPr>
              <a:t>routed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720840" y="3815334"/>
            <a:ext cx="192024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7B6B"/>
                </a:solidFill>
              </a:rPr>
              <a:t>Done 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A7B6B"/>
                </a:solidFill>
              </a:rPr>
              <a:t>3–5 minutes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20040" y="44074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Key CLI commands: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elbv2 create-load-balancer  ·  aws autoscaling create-auto-scaling-group  ·  --min-size 2 --max-size 10 --target-value 70.0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D6F0E2"/>
          </a:solidFill>
          <a:ln w="19050">
            <a:solidFill>
              <a:srgbClr val="1A7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11480" y="45720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340"/>
                </a:solidFill>
              </a:rPr>
              <a:t>FREE TIER  </a:t>
            </a:r>
            <a:r>
              <a:rPr lang="en-US" sz="1100" dirty="0">
                <a:solidFill>
                  <a:srgbClr val="1A5C38"/>
                </a:solidFill>
              </a:rPr>
              <a:t>750 hours ELB/month FREE for 12 months · Auto Scaling itself is FREE — you only pay for EC2 instances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All 12 AWS Services — Quick Reference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834640" cy="914400"/>
          </a:xfrm>
          <a:prstGeom prst="rect">
            <a:avLst/>
          </a:prstGeom>
          <a:solidFill>
            <a:srgbClr val="1D4A7F"/>
          </a:solidFill>
          <a:ln w="12700">
            <a:solidFill>
              <a:srgbClr val="2D6A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57200" cy="45720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877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🖥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89611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EC2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11887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FD4"/>
                </a:solidFill>
              </a:rPr>
              <a:t>Virtual server — run any app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" y="146304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DCAA5"/>
                </a:solidFill>
              </a:rPr>
              <a:t>750h/m (12mo)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0" y="822960"/>
            <a:ext cx="2834640" cy="914400"/>
          </a:xfrm>
          <a:prstGeom prst="rect">
            <a:avLst/>
          </a:prstGeom>
          <a:solidFill>
            <a:srgbClr val="1D4A7F"/>
          </a:solidFill>
          <a:ln w="12700">
            <a:solidFill>
              <a:srgbClr val="2D6A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914400"/>
            <a:ext cx="457200" cy="45720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0" y="877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🗄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43400" y="89611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43400" y="11887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FD4"/>
                </a:solidFill>
              </a:rPr>
              <a:t>File storage — images, backups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10128" y="146304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DCAA5"/>
                </a:solidFill>
              </a:rPr>
              <a:t>5 GB free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72200" y="822960"/>
            <a:ext cx="2834640" cy="914400"/>
          </a:xfrm>
          <a:prstGeom prst="rect">
            <a:avLst/>
          </a:prstGeom>
          <a:solidFill>
            <a:srgbClr val="1D4A7F"/>
          </a:solidFill>
          <a:ln w="12700">
            <a:solidFill>
              <a:srgbClr val="2D6A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63640" y="914400"/>
            <a:ext cx="457200" cy="45720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6364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12280" y="877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λ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315200" y="89611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Lambda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0" y="11887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FD4"/>
                </a:solidFill>
              </a:rPr>
              <a:t>Serverless functions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81928" y="146304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DCAA5"/>
                </a:solidFill>
              </a:rPr>
              <a:t>1M req free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8600" y="1874520"/>
            <a:ext cx="2834640" cy="914400"/>
          </a:xfrm>
          <a:prstGeom prst="rect">
            <a:avLst/>
          </a:prstGeom>
          <a:solidFill>
            <a:srgbClr val="1D4A7F"/>
          </a:solidFill>
          <a:ln w="12700">
            <a:solidFill>
              <a:srgbClr val="2D6A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1965960"/>
            <a:ext cx="457200" cy="45720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371600" y="19476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DynamoDB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371600" y="22402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FD4"/>
                </a:solidFill>
              </a:rPr>
              <a:t>NoSQL database at scale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8328" y="25146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DCAA5"/>
                </a:solidFill>
              </a:rPr>
              <a:t>25 GB free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0" y="1874520"/>
            <a:ext cx="2834640" cy="914400"/>
          </a:xfrm>
          <a:prstGeom prst="rect">
            <a:avLst/>
          </a:prstGeom>
          <a:solidFill>
            <a:srgbClr val="1D4A7F"/>
          </a:solidFill>
          <a:ln w="12700">
            <a:solidFill>
              <a:srgbClr val="2D6A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291840" y="1965960"/>
            <a:ext cx="457200" cy="45720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2918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840480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📨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4343400" y="19476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343400" y="22402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FD4"/>
                </a:solidFill>
              </a:rPr>
              <a:t>Message queue — decouple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10128" y="25146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DCAA5"/>
                </a:solidFill>
              </a:rPr>
              <a:t>1M req free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72200" y="1874520"/>
            <a:ext cx="2834640" cy="914400"/>
          </a:xfrm>
          <a:prstGeom prst="rect">
            <a:avLst/>
          </a:prstGeom>
          <a:solidFill>
            <a:srgbClr val="1D4A7F"/>
          </a:solidFill>
          <a:ln w="12700">
            <a:solidFill>
              <a:srgbClr val="2D6A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263640" y="1965960"/>
            <a:ext cx="457200" cy="45720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263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12280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📢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7315200" y="19476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SNS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315200" y="22402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FD4"/>
                </a:solidFill>
              </a:rPr>
              <a:t>Pub/Sub notifications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81928" y="25146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DCAA5"/>
                </a:solidFill>
              </a:rPr>
              <a:t>1M pub free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28600" y="2926080"/>
            <a:ext cx="2834640" cy="914400"/>
          </a:xfrm>
          <a:prstGeom prst="rect">
            <a:avLst/>
          </a:prstGeom>
          <a:solidFill>
            <a:srgbClr val="1D4A7F"/>
          </a:solidFill>
          <a:ln w="12700">
            <a:solidFill>
              <a:srgbClr val="2D6A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20040" y="3017520"/>
            <a:ext cx="457200" cy="45720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200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68680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1371600" y="29992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API Gateway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371600" y="32918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FD4"/>
                </a:solidFill>
              </a:rPr>
              <a:t>HTTP front door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38328" y="35661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DCAA5"/>
                </a:solidFill>
              </a:rPr>
              <a:t>1M calls/12mo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200400" y="2926080"/>
            <a:ext cx="2834640" cy="914400"/>
          </a:xfrm>
          <a:prstGeom prst="rect">
            <a:avLst/>
          </a:prstGeom>
          <a:solidFill>
            <a:srgbClr val="1D4A7F"/>
          </a:solidFill>
          <a:ln w="12700">
            <a:solidFill>
              <a:srgbClr val="2D6A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3291840" y="3017520"/>
            <a:ext cx="457200" cy="45720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2918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840480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4343400" y="29992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CloudWatch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343400" y="32918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FD4"/>
                </a:solidFill>
              </a:rPr>
              <a:t>Monitoring &amp; alerts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310128" y="35661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DCAA5"/>
                </a:solidFill>
              </a:rPr>
              <a:t>10 metrics free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172200" y="2926080"/>
            <a:ext cx="2834640" cy="914400"/>
          </a:xfrm>
          <a:prstGeom prst="rect">
            <a:avLst/>
          </a:prstGeom>
          <a:solidFill>
            <a:srgbClr val="1D4A7F"/>
          </a:solidFill>
          <a:ln w="12700">
            <a:solidFill>
              <a:srgbClr val="2D6A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6263640" y="3017520"/>
            <a:ext cx="457200" cy="45720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2636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812280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7315200" y="29992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IAM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315200" y="32918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FD4"/>
                </a:solidFill>
              </a:rPr>
              <a:t>Permissions &amp; security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281928" y="35661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DCAA5"/>
                </a:solidFill>
              </a:rPr>
              <a:t>Always free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228600" y="3977640"/>
            <a:ext cx="2834640" cy="914400"/>
          </a:xfrm>
          <a:prstGeom prst="rect">
            <a:avLst/>
          </a:prstGeom>
          <a:solidFill>
            <a:srgbClr val="1D4A7F"/>
          </a:solidFill>
          <a:ln w="12700">
            <a:solidFill>
              <a:srgbClr val="2D6A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320040" y="4069080"/>
            <a:ext cx="457200" cy="45720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3200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86868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☁</a:t>
            </a:r>
            <a:endParaRPr lang="en-US" sz="2000" dirty="0"/>
          </a:p>
        </p:txBody>
      </p:sp>
      <p:sp>
        <p:nvSpPr>
          <p:cNvPr id="71" name="Text 69"/>
          <p:cNvSpPr/>
          <p:nvPr/>
        </p:nvSpPr>
        <p:spPr>
          <a:xfrm>
            <a:off x="1371600" y="40507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CloudFormation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1371600" y="43434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FD4"/>
                </a:solidFill>
              </a:rPr>
              <a:t>Infrastructure as code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338328" y="461772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DCAA5"/>
                </a:solidFill>
              </a:rPr>
              <a:t>Always free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3200400" y="3977640"/>
            <a:ext cx="2834640" cy="914400"/>
          </a:xfrm>
          <a:prstGeom prst="rect">
            <a:avLst/>
          </a:prstGeom>
          <a:solidFill>
            <a:srgbClr val="1D4A7F"/>
          </a:solidFill>
          <a:ln w="12700">
            <a:solidFill>
              <a:srgbClr val="2D6A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3291840" y="4069080"/>
            <a:ext cx="457200" cy="45720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32918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384048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🏦</a:t>
            </a:r>
            <a:endParaRPr lang="en-US" sz="2000" dirty="0"/>
          </a:p>
        </p:txBody>
      </p:sp>
      <p:sp>
        <p:nvSpPr>
          <p:cNvPr id="78" name="Text 76"/>
          <p:cNvSpPr/>
          <p:nvPr/>
        </p:nvSpPr>
        <p:spPr>
          <a:xfrm>
            <a:off x="4343400" y="40507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RDS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4343400" y="43434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FD4"/>
                </a:solidFill>
              </a:rPr>
              <a:t>Managed SQL database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3310128" y="461772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DCAA5"/>
                </a:solidFill>
              </a:rPr>
              <a:t>750h/m (12mo)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6172200" y="3977640"/>
            <a:ext cx="2834640" cy="914400"/>
          </a:xfrm>
          <a:prstGeom prst="rect">
            <a:avLst/>
          </a:prstGeom>
          <a:solidFill>
            <a:srgbClr val="1D4A7F"/>
          </a:solidFill>
          <a:ln w="12700">
            <a:solidFill>
              <a:srgbClr val="2D6A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6263640" y="4069080"/>
            <a:ext cx="457200" cy="45720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62636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681228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⚖</a:t>
            </a:r>
            <a:endParaRPr lang="en-US" sz="2000" dirty="0"/>
          </a:p>
        </p:txBody>
      </p:sp>
      <p:sp>
        <p:nvSpPr>
          <p:cNvPr id="85" name="Text 83"/>
          <p:cNvSpPr/>
          <p:nvPr/>
        </p:nvSpPr>
        <p:spPr>
          <a:xfrm>
            <a:off x="7315200" y="40507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ELB + ASG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7315200" y="43434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FD4"/>
                </a:solidFill>
              </a:rPr>
              <a:t>Load balance + auto-scale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6281928" y="461772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DCAA5"/>
                </a:solidFill>
              </a:rPr>
              <a:t>750h ELB/12mo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228600" y="4681728"/>
            <a:ext cx="8686800" cy="36576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274320" y="4700016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AWS SDK for Java v2  ·  AWS CLI v2  ·  All examples verified 2025  ·  aws.amazon.com/free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2219</Words>
  <Application>Microsoft Office PowerPoint</Application>
  <PresentationFormat>On-screen Show (16:9)</PresentationFormat>
  <Paragraphs>522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– Beginner to Practical</dc:title>
  <dc:subject>PptxGenJS Presentation</dc:subject>
  <dc:creator>Suresh Sunuguri</dc:creator>
  <cp:lastModifiedBy>suresh s</cp:lastModifiedBy>
  <cp:revision>2</cp:revision>
  <dcterms:created xsi:type="dcterms:W3CDTF">2026-04-29T23:21:52Z</dcterms:created>
  <dcterms:modified xsi:type="dcterms:W3CDTF">2026-04-30T00:55:38Z</dcterms:modified>
</cp:coreProperties>
</file>